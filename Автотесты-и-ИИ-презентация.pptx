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7" r:id="rId18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E6B57"/>
                </a:solidFill>
                <a:latin typeface="Consolas"/>
              </a:rPr>
              <a:t>●  ОТДЕЛ КАЧЕСТВА · MECHTA.KZ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96012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4200" b="1">
                <a:solidFill>
                  <a:srgbClr val="14181A"/>
                </a:solidFill>
                <a:latin typeface="Georgia"/>
              </a:rPr>
              <a:t>Автотесты и ИИ:</a:t>
            </a:r>
          </a:p>
          <a:p>
            <a:pPr>
              <a:lnSpc>
                <a:spcPct val="105000"/>
              </a:lnSpc>
            </a:pPr>
            <a:r>
              <a:rPr sz="4200" b="1">
                <a:solidFill>
                  <a:srgbClr val="14181A"/>
                </a:solidFill>
                <a:latin typeface="Georgia"/>
              </a:rPr>
              <a:t>как сайт проверяется быстрее,</a:t>
            </a:r>
          </a:p>
          <a:p>
            <a:pPr>
              <a:lnSpc>
                <a:spcPct val="105000"/>
              </a:lnSpc>
            </a:pPr>
            <a:r>
              <a:rPr sz="4200" b="1">
                <a:solidFill>
                  <a:srgbClr val="14181A"/>
                </a:solidFill>
                <a:latin typeface="Georgia"/>
              </a:rPr>
              <a:t>чем его успевают сломать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29000"/>
            <a:ext cx="7863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B655F"/>
                </a:solidFill>
                <a:latin typeface="Calibri"/>
              </a:rPr>
              <a:t>Короткий отчёт о том, что за последние почти полгода построено в тестировании mechta.kz — простыми словами, без технических терминов.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434840"/>
            <a:ext cx="3484778" cy="1371600"/>
          </a:xfrm>
          <a:prstGeom prst="roundRect">
            <a:avLst>
              <a:gd name="adj" fmla="val 10000"/>
            </a:avLst>
          </a:prstGeom>
          <a:solidFill>
            <a:srgbClr val="E1E8E2"/>
          </a:solidFill>
          <a:ln w="9525">
            <a:solidFill>
              <a:srgbClr val="C7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4562856"/>
            <a:ext cx="315559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E6B57"/>
                </a:solidFill>
                <a:latin typeface="Consolas"/>
              </a:rPr>
              <a:t>671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5093208"/>
            <a:ext cx="315559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55F"/>
                </a:solidFill>
                <a:latin typeface="Calibri"/>
              </a:rPr>
              <a:t>автоматических тест-кейсов, которые можно запускать в любой момент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3458" y="4434840"/>
            <a:ext cx="3484778" cy="1371600"/>
          </a:xfrm>
          <a:prstGeom prst="roundRect">
            <a:avLst>
              <a:gd name="adj" fmla="val 10000"/>
            </a:avLst>
          </a:prstGeom>
          <a:solidFill>
            <a:srgbClr val="E1E8E2"/>
          </a:solidFill>
          <a:ln w="9525">
            <a:solidFill>
              <a:srgbClr val="C7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8050" y="4562856"/>
            <a:ext cx="315559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E6B57"/>
                </a:solidFill>
                <a:latin typeface="Consolas"/>
              </a:rPr>
              <a:t>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8050" y="5093208"/>
            <a:ext cx="315559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55F"/>
                </a:solidFill>
                <a:latin typeface="Calibri"/>
              </a:rPr>
              <a:t>реальных багов найдено и передано разработчикам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6837" y="4434840"/>
            <a:ext cx="3484778" cy="1371600"/>
          </a:xfrm>
          <a:prstGeom prst="roundRect">
            <a:avLst>
              <a:gd name="adj" fmla="val 10000"/>
            </a:avLst>
          </a:prstGeom>
          <a:solidFill>
            <a:srgbClr val="E1E8E2"/>
          </a:solidFill>
          <a:ln w="9525">
            <a:solidFill>
              <a:srgbClr val="C7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1429" y="4562856"/>
            <a:ext cx="315559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E6B57"/>
                </a:solidFill>
                <a:latin typeface="Consola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1429" y="5093208"/>
            <a:ext cx="315559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55F"/>
                </a:solidFill>
                <a:latin typeface="Calibri"/>
              </a:rPr>
              <a:t>ключевых разделов сайта под постоянным контролем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5B655F"/>
                </a:solidFill>
                <a:latin typeface="Consolas"/>
              </a:rP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E6B57"/>
                </a:solidFill>
                <a:latin typeface="Consolas"/>
              </a:rPr>
              <a:t>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1153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4000"/>
              </a:lnSpc>
            </a:pPr>
            <a:r>
              <a:rPr sz="2400" b="1">
                <a:solidFill>
                  <a:srgbClr val="14181A"/>
                </a:solidFill>
                <a:latin typeface="Georgia"/>
              </a:rPr>
              <a:t>Сайт меняется каждую неделю. Проверить всё
руками — уже физически невозможно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12264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50">
                <a:solidFill>
                  <a:srgbClr val="5B655F"/>
                </a:solidFill>
                <a:latin typeface="Calibri"/>
              </a:rPr>
              <a:t>У mechta.kz — каталог, фильтры, уценённые товары, акции, корзина, личный кабинет, оформление заказа. Каждое обновление может незаметно сломать то, что раньше работало.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606040"/>
            <a:ext cx="5318608" cy="3657600"/>
          </a:xfrm>
          <a:prstGeom prst="rect">
            <a:avLst/>
          </a:prstGeom>
          <a:solidFill>
            <a:srgbClr val="E1E8E2"/>
          </a:solidFill>
          <a:ln w="9525">
            <a:solidFill>
              <a:srgbClr val="C7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807208"/>
            <a:ext cx="48614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5B655F"/>
                </a:solidFill>
                <a:latin typeface="Consolas"/>
              </a:rPr>
              <a:t>ПРОВЕРКА РУКАМИ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291840"/>
            <a:ext cx="48065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</a:pPr>
            <a:r>
              <a:rPr sz="1250">
                <a:solidFill>
                  <a:srgbClr val="14181A"/>
                </a:solidFill>
                <a:latin typeface="Calibri"/>
              </a:rPr>
              <a:t>•  Тестировщик кликает по сайту глазами и оценивает, что видно на экране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4069080"/>
            <a:ext cx="48065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</a:pPr>
            <a:r>
              <a:rPr sz="1250">
                <a:solidFill>
                  <a:srgbClr val="14181A"/>
                </a:solidFill>
                <a:latin typeface="Calibri"/>
              </a:rPr>
              <a:t>•  Полная проверка одного раздела — часы или дни работы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846320"/>
            <a:ext cx="48065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</a:pPr>
            <a:r>
              <a:rPr sz="1250">
                <a:solidFill>
                  <a:srgbClr val="14181A"/>
                </a:solidFill>
                <a:latin typeface="Calibri"/>
              </a:rPr>
              <a:t>•  Перед каждым релизом — либо повторять всё заново, либо рисковать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5623560"/>
            <a:ext cx="48065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</a:pPr>
            <a:r>
              <a:rPr sz="1250">
                <a:solidFill>
                  <a:srgbClr val="14181A"/>
                </a:solidFill>
                <a:latin typeface="Calibri"/>
              </a:rPr>
              <a:t>•  Не видно, что реально происходит на сервере — только то, что показал экран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8" y="2606040"/>
            <a:ext cx="5318608" cy="3657600"/>
          </a:xfrm>
          <a:prstGeom prst="rect">
            <a:avLst/>
          </a:prstGeom>
          <a:solidFill>
            <a:srgbClr val="DCEFE9"/>
          </a:solidFill>
          <a:ln w="9525">
            <a:solidFill>
              <a:srgbClr val="C7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9040" y="2807208"/>
            <a:ext cx="48614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E6B57"/>
                </a:solidFill>
                <a:latin typeface="Consolas"/>
              </a:rPr>
              <a:t>АВТОТЕСТ + 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9040" y="3291840"/>
            <a:ext cx="48065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</a:pPr>
            <a:r>
              <a:rPr sz="1250">
                <a:solidFill>
                  <a:srgbClr val="14181A"/>
                </a:solidFill>
                <a:latin typeface="Calibri"/>
              </a:rPr>
              <a:t>•  Робот повторяет действия покупателя и сверяет каждый шаг с ответом сервера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9040" y="4069080"/>
            <a:ext cx="48065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</a:pPr>
            <a:r>
              <a:rPr sz="1250">
                <a:solidFill>
                  <a:srgbClr val="14181A"/>
                </a:solidFill>
                <a:latin typeface="Calibri"/>
              </a:rPr>
              <a:t>•  Полный прогон раздела — минуты, без участия человека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9040" y="4846320"/>
            <a:ext cx="48065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</a:pPr>
            <a:r>
              <a:rPr sz="1250">
                <a:solidFill>
                  <a:srgbClr val="14181A"/>
                </a:solidFill>
                <a:latin typeface="Calibri"/>
              </a:rPr>
              <a:t>•  Прогоняется перед каждым релизом бесплатно, сколько угодно раз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9040" y="5623560"/>
            <a:ext cx="48065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</a:pPr>
            <a:r>
              <a:rPr sz="1250">
                <a:solidFill>
                  <a:srgbClr val="14181A"/>
                </a:solidFill>
                <a:latin typeface="Calibri"/>
              </a:rPr>
              <a:t>•  Ловит расхождения между экраном и базой данных, которые глазами не увидеть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5B655F"/>
                </a:solidFill>
                <a:latin typeface="Consolas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E6B57"/>
                </a:solidFill>
                <a:latin typeface="Consolas"/>
              </a:rPr>
              <a:t>ЧТО ЭТО ТАКОЕ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13816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4000"/>
              </a:lnSpc>
            </a:pPr>
            <a:r>
              <a:rPr sz="2600" b="1">
                <a:solidFill>
                  <a:srgbClr val="14181A"/>
                </a:solidFill>
                <a:latin typeface="Georgia"/>
              </a:rPr>
              <a:t>По сути — очень внимательный покупатель,
который никогда не устаёт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83664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50">
                <a:solidFill>
                  <a:srgbClr val="5B655F"/>
                </a:solidFill>
                <a:latin typeface="Calibri"/>
              </a:rPr>
              <a:t>Программа заходит на сайт как обычный клиент: открывает каталог, ставит фильтры, кладёт товар в корзину, оформляет заказ, заходит в личный кабинет. Она делает это в точности по сценариям, которые прописаны в тест-плане — документе, где расписано, как сайт должен себя вести в каждой ситуации.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9875520" cy="813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400" b="1">
                <a:solidFill>
                  <a:srgbClr val="0E6B57"/>
                </a:solidFill>
                <a:latin typeface="Consolas"/>
              </a:rPr>
              <a:t>→  </a:t>
            </a:r>
            <a:r>
              <a:rPr sz="1400" b="0">
                <a:solidFill>
                  <a:srgbClr val="14181A"/>
                </a:solidFill>
                <a:latin typeface="Calibri"/>
              </a:rPr>
              <a:t>Проверяет не только «страница открылась», а точное поведение: </a:t>
            </a:r>
            <a:r>
              <a:rPr sz="1400" b="1">
                <a:solidFill>
                  <a:srgbClr val="0E6B57"/>
                </a:solidFill>
                <a:latin typeface="Calibri"/>
              </a:rPr>
              <a:t>правильную цену, правильное количество товаров, правильный текст ошибки</a:t>
            </a:r>
            <a:r>
              <a:rPr sz="1400" b="0">
                <a:solidFill>
                  <a:srgbClr val="14181A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80560"/>
            <a:ext cx="9875520" cy="813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400" b="1">
                <a:solidFill>
                  <a:srgbClr val="0E6B57"/>
                </a:solidFill>
                <a:latin typeface="Consolas"/>
              </a:rPr>
              <a:t>→  </a:t>
            </a:r>
            <a:r>
              <a:rPr sz="1400" b="0">
                <a:solidFill>
                  <a:srgbClr val="14181A"/>
                </a:solidFill>
                <a:latin typeface="Calibri"/>
              </a:rPr>
              <a:t>Запускается по требованию или перед выкладкой новой версии сайта — </a:t>
            </a:r>
            <a:r>
              <a:rPr sz="1400" b="1">
                <a:solidFill>
                  <a:srgbClr val="0E6B57"/>
                </a:solidFill>
                <a:latin typeface="Calibri"/>
              </a:rPr>
              <a:t>за минуты, а не дни</a:t>
            </a:r>
            <a:r>
              <a:rPr sz="1400" b="0">
                <a:solidFill>
                  <a:srgbClr val="14181A"/>
                </a:solidFill>
                <a:latin typeface="Calibr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49240"/>
            <a:ext cx="9875520" cy="813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400" b="1">
                <a:solidFill>
                  <a:srgbClr val="0E6B57"/>
                </a:solidFill>
                <a:latin typeface="Consolas"/>
              </a:rPr>
              <a:t>→  </a:t>
            </a:r>
            <a:r>
              <a:rPr sz="1400" b="0">
                <a:solidFill>
                  <a:srgbClr val="14181A"/>
                </a:solidFill>
                <a:latin typeface="Calibri"/>
              </a:rPr>
              <a:t>Если что-то сломалось — сразу присылает точный отчёт: </a:t>
            </a:r>
            <a:r>
              <a:rPr sz="1400" b="1">
                <a:solidFill>
                  <a:srgbClr val="0E6B57"/>
                </a:solidFill>
                <a:latin typeface="Calibri"/>
              </a:rPr>
              <a:t>какая страница, какой шаг, что должно быть и что произошло на самом деле</a:t>
            </a:r>
            <a:r>
              <a:rPr sz="1400" b="0">
                <a:solidFill>
                  <a:srgbClr val="14181A"/>
                </a:solidFill>
                <a:latin typeface="Calibr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5B655F"/>
                </a:solidFill>
                <a:latin typeface="Consolas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E6B57"/>
                </a:solidFill>
                <a:latin typeface="Consolas"/>
              </a:rPr>
              <a:t>КАК ИМЕННО ПРОВЕРЯЕТ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4000"/>
              </a:lnSpc>
            </a:pPr>
            <a:r>
              <a:rPr sz="2500" b="1">
                <a:solidFill>
                  <a:srgbClr val="14181A"/>
                </a:solidFill>
                <a:latin typeface="Georgia"/>
              </a:rPr>
              <a:t>Двойная проверка: то, что видит клиент,
и то, что реально ответил сервер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37944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50">
                <a:solidFill>
                  <a:srgbClr val="5B655F"/>
                </a:solidFill>
                <a:latin typeface="Calibri"/>
              </a:rPr>
              <a:t>У любого действия на сайте есть две стороны: картинка на экране и данные, которые в этот момент вернул сервер «под капотом». Обычный тестировщик видит только первое. Наши тесты сверяют оба.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23160"/>
            <a:ext cx="5318608" cy="3886200"/>
          </a:xfrm>
          <a:prstGeom prst="rect">
            <a:avLst/>
          </a:prstGeom>
          <a:solidFill>
            <a:srgbClr val="E1E8E2"/>
          </a:solidFill>
          <a:ln w="9525">
            <a:solidFill>
              <a:srgbClr val="C7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ug002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423160"/>
            <a:ext cx="5318608" cy="207758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4610469"/>
            <a:ext cx="49528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E6B57"/>
                </a:solidFill>
                <a:latin typeface="Consolas"/>
              </a:rPr>
              <a:t>РЕАЛЬНЫЙ СКРИНШОТ · ТОВАР, BUG-002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66501"/>
            <a:ext cx="49528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4181A"/>
                </a:solidFill>
                <a:latin typeface="Calibri"/>
              </a:rPr>
              <a:t>Клик «В корзину» при ошибке сервера — экран просто гаснет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268837"/>
            <a:ext cx="4952848" cy="9490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050">
                <a:solidFill>
                  <a:srgbClr val="5B655F"/>
                </a:solidFill>
                <a:latin typeface="Calibri"/>
              </a:rPr>
              <a:t>Сервер ответил ошибкой 500, но интерфейс всё равно «открыл» панель успеха — только сломанную и невидимую. Тест сравнивает ответ сервера с тем, что реально показано на экране, и ловит подмену мгновенно.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3008" y="2423160"/>
            <a:ext cx="5318608" cy="3886200"/>
          </a:xfrm>
          <a:prstGeom prst="rect">
            <a:avLst/>
          </a:prstGeom>
          <a:solidFill>
            <a:srgbClr val="E1E8E2"/>
          </a:solidFill>
          <a:ln w="9525">
            <a:solidFill>
              <a:srgbClr val="C7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ug007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5026" y="2423160"/>
            <a:ext cx="3234570" cy="2148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15888" y="4681728"/>
            <a:ext cx="49528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E6B57"/>
                </a:solidFill>
                <a:latin typeface="Consolas"/>
              </a:rPr>
              <a:t>РЕАЛЬНЫЙ СКРИНШОТ · ТОВАР, BUG-007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5888" y="4937760"/>
            <a:ext cx="49528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4181A"/>
                </a:solidFill>
                <a:latin typeface="Calibri"/>
              </a:rPr>
              <a:t>Карточка обещает «(1) отзыв» — а у товара их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5888" y="5340096"/>
            <a:ext cx="4952848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050">
                <a:solidFill>
                  <a:srgbClr val="5B655F"/>
                </a:solidFill>
                <a:latin typeface="Calibri"/>
              </a:rPr>
              <a:t>Карусель «Похожие товары» берёт рейтинг из одного источника данных, а сама страница товара — из другого. Разницу видно только сверяя ответы сервера, глазами — никогда.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5B655F"/>
                </a:solidFill>
                <a:latin typeface="Consolas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E6B57"/>
                </a:solidFill>
                <a:latin typeface="Consolas"/>
              </a:rPr>
              <a:t>ЧТО УЖЕ СДЕЛАНО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13816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4000"/>
              </a:lnSpc>
            </a:pPr>
            <a:r>
              <a:rPr sz="2700" b="1">
                <a:solidFill>
                  <a:srgbClr val="14181A"/>
                </a:solidFill>
                <a:latin typeface="Georgia"/>
              </a:rPr>
              <a:t>Пять разделов сайта — под постоянным присмотром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965960"/>
            <a:ext cx="10911535" cy="0"/>
          </a:xfrm>
          <a:prstGeom prst="line">
            <a:avLst/>
          </a:prstGeom>
          <a:ln w="15875">
            <a:solidFill>
              <a:srgbClr val="C7D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203911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B655F"/>
                </a:solidFill>
                <a:latin typeface="Consolas"/>
              </a:rPr>
              <a:t>РАЗДЕЛ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03911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B655F"/>
                </a:solidFill>
                <a:latin typeface="Consolas"/>
              </a:rPr>
              <a:t>СЦЕНАРИЕВ В ПЛАНЕ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203911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B655F"/>
                </a:solidFill>
                <a:latin typeface="Consolas"/>
              </a:rPr>
              <a:t>АВТОТЕСТОВ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03911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B655F"/>
                </a:solidFill>
                <a:latin typeface="Consolas"/>
              </a:rPr>
              <a:t>СТАТУС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2404872"/>
            <a:ext cx="10911535" cy="0"/>
          </a:xfrm>
          <a:prstGeom prst="line">
            <a:avLst/>
          </a:prstGeom>
          <a:ln w="9525">
            <a:solidFill>
              <a:srgbClr val="C7D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253288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4181A"/>
                </a:solidFill>
                <a:latin typeface="Calibri"/>
              </a:rPr>
              <a:t>Карточка товара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53288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4181A"/>
                </a:solidFill>
                <a:latin typeface="Consolas"/>
              </a:rPr>
              <a:t>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53288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4181A"/>
                </a:solidFill>
                <a:latin typeface="Consolas"/>
              </a:rPr>
              <a:t>17 файлов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251460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DE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950" b="1">
                <a:solidFill>
                  <a:srgbClr val="3B7A5C"/>
                </a:solidFill>
                <a:latin typeface="Consolas"/>
              </a:rPr>
              <a:t>закрыт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" y="2971800"/>
            <a:ext cx="10911535" cy="0"/>
          </a:xfrm>
          <a:prstGeom prst="line">
            <a:avLst/>
          </a:prstGeom>
          <a:ln w="6350">
            <a:solidFill>
              <a:srgbClr val="C7D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" y="3099816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4181A"/>
                </a:solidFill>
                <a:latin typeface="Calibri"/>
              </a:rPr>
              <a:t>Уценённые товары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09981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4181A"/>
                </a:solidFill>
                <a:latin typeface="Consolas"/>
              </a:rPr>
              <a:t>364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3099816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4181A"/>
                </a:solidFill>
                <a:latin typeface="Consolas"/>
              </a:rPr>
              <a:t>20 файлов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308152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F2E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950" b="1">
                <a:solidFill>
                  <a:srgbClr val="93630F"/>
                </a:solidFill>
                <a:latin typeface="Consolas"/>
              </a:rPr>
              <a:t>закрыт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3538728"/>
            <a:ext cx="10911535" cy="0"/>
          </a:xfrm>
          <a:prstGeom prst="line">
            <a:avLst/>
          </a:prstGeom>
          <a:ln w="6350">
            <a:solidFill>
              <a:srgbClr val="C7D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3666744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4181A"/>
                </a:solidFill>
                <a:latin typeface="Calibri"/>
              </a:rPr>
              <a:t>Личный кабинет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366674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4181A"/>
                </a:solidFill>
                <a:latin typeface="Consolas"/>
              </a:rPr>
              <a:t>285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666744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4181A"/>
                </a:solidFill>
                <a:latin typeface="Consolas"/>
              </a:rPr>
              <a:t>7 файлов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3648456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F2E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950" b="1">
                <a:solidFill>
                  <a:srgbClr val="93630F"/>
                </a:solidFill>
                <a:latin typeface="Consolas"/>
              </a:rPr>
              <a:t>закрыт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" y="4105656"/>
            <a:ext cx="10911535" cy="0"/>
          </a:xfrm>
          <a:prstGeom prst="line">
            <a:avLst/>
          </a:prstGeom>
          <a:ln w="6350">
            <a:solidFill>
              <a:srgbClr val="C7D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0080" y="423367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4181A"/>
                </a:solidFill>
                <a:latin typeface="Calibri"/>
              </a:rPr>
              <a:t>Каталог и фильтры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423367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4181A"/>
                </a:solidFill>
                <a:latin typeface="Consolas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423367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4181A"/>
                </a:solidFill>
                <a:latin typeface="Consolas"/>
              </a:rPr>
              <a:t>3 файла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215384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DE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950" b="1">
                <a:solidFill>
                  <a:srgbClr val="3B7A5C"/>
                </a:solidFill>
                <a:latin typeface="Consolas"/>
              </a:rPr>
              <a:t>покрыт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0080" y="4672584"/>
            <a:ext cx="10911535" cy="0"/>
          </a:xfrm>
          <a:prstGeom prst="line">
            <a:avLst/>
          </a:prstGeom>
          <a:ln w="6350">
            <a:solidFill>
              <a:srgbClr val="C7D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40080" y="48006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4181A"/>
                </a:solidFill>
                <a:latin typeface="Calibri"/>
              </a:rPr>
              <a:t>Акции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48006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4181A"/>
                </a:solidFill>
                <a:latin typeface="Consolas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48006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4181A"/>
                </a:solidFill>
                <a:latin typeface="Consolas"/>
              </a:rPr>
              <a:t>5 файлов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21040" y="478231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DE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950" b="1">
                <a:solidFill>
                  <a:srgbClr val="3B7A5C"/>
                </a:solidFill>
                <a:latin typeface="Consolas"/>
              </a:rPr>
              <a:t>покрыт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40080" y="5239512"/>
            <a:ext cx="10911535" cy="0"/>
          </a:xfrm>
          <a:prstGeom prst="line">
            <a:avLst/>
          </a:prstGeom>
          <a:ln w="6350">
            <a:solidFill>
              <a:srgbClr val="C7D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40080" y="5468112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150">
                <a:solidFill>
                  <a:srgbClr val="5B655F"/>
                </a:solidFill>
                <a:latin typeface="Calibri"/>
              </a:rPr>
              <a:t>Итого задокументировано и сверено с сайтом свыше 750 конкретных проверочных сценариев только по трём крупнейшим разделам, а в самих автотестах — 671 тест-кейс в 57 файлах. Работа ведётся с 26 февраля 2026 — 90 версий тестового набора за неполные шесть месяцев.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5B655F"/>
                </a:solidFill>
                <a:latin typeface="Consolas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E6B57"/>
                </a:solidFill>
                <a:latin typeface="Consolas"/>
              </a:rPr>
              <a:t>ЧТО УЖЕ НАШЛИ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22376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4000"/>
              </a:lnSpc>
            </a:pPr>
            <a:r>
              <a:rPr sz="2300" b="1">
                <a:solidFill>
                  <a:srgbClr val="14181A"/>
                </a:solidFill>
                <a:latin typeface="Georgia"/>
              </a:rPr>
              <a:t>17 реальных багов — не гипотез, а подтверждённых,
с шагами воспроизведения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00784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50">
                <a:solidFill>
                  <a:srgbClr val="5B655F"/>
                </a:solidFill>
                <a:latin typeface="Calibri"/>
              </a:rPr>
              <a:t>Каждый баг оформлен так, чтобы разработчик мог открыть документ и сразу понять, что чинить — без лишних вопросов и созвонов.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10911535" cy="566928"/>
          </a:xfrm>
          <a:prstGeom prst="rect">
            <a:avLst/>
          </a:prstGeom>
          <a:solidFill>
            <a:srgbClr val="E1E8E2"/>
          </a:solidFill>
          <a:ln w="9525">
            <a:solidFill>
              <a:srgbClr val="C7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244144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5E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950" b="1">
                <a:solidFill>
                  <a:srgbClr val="A9332C"/>
                </a:solidFill>
                <a:latin typeface="Consolas"/>
              </a:rPr>
              <a:t>High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73352" y="2441448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EE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950" b="1">
                <a:solidFill>
                  <a:srgbClr val="5B655F"/>
                </a:solidFill>
                <a:latin typeface="Consolas"/>
              </a:rPr>
              <a:t>ЛК · BUG-003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238658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81A"/>
                </a:solidFill>
                <a:latin typeface="Calibri"/>
              </a:rPr>
              <a:t>Ошибка в одном блоке личного кабинета обрушивает всю страницу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642616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B655F"/>
                </a:solidFill>
                <a:latin typeface="Calibri"/>
              </a:rPr>
              <a:t>Пропадают избранное, отзывы, история просмотров — хотя они не связаны со сломанным блоком.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71800"/>
            <a:ext cx="10911535" cy="566928"/>
          </a:xfrm>
          <a:prstGeom prst="rect">
            <a:avLst/>
          </a:prstGeom>
          <a:solidFill>
            <a:srgbClr val="E1E8E2"/>
          </a:solidFill>
          <a:ln w="9525">
            <a:solidFill>
              <a:srgbClr val="C7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" y="308152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5E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950" b="1">
                <a:solidFill>
                  <a:srgbClr val="A9332C"/>
                </a:solidFill>
                <a:latin typeface="Consolas"/>
              </a:rPr>
              <a:t>High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73352" y="3081528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EE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950" b="1">
                <a:solidFill>
                  <a:srgbClr val="5B655F"/>
                </a:solidFill>
                <a:latin typeface="Consolas"/>
              </a:rPr>
              <a:t>Товар · BUG-002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302666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81A"/>
                </a:solidFill>
                <a:latin typeface="Calibri"/>
              </a:rPr>
              <a:t>Ложный «успех» при ошибке добавления в корзину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282696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B655F"/>
                </a:solidFill>
                <a:latin typeface="Calibri"/>
              </a:rPr>
              <a:t>Интерфейс показывает, что товар добавлен, даже когда сервер вернул ошибку — риск потерянных продаж.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611880"/>
            <a:ext cx="10911535" cy="566928"/>
          </a:xfrm>
          <a:prstGeom prst="rect">
            <a:avLst/>
          </a:prstGeom>
          <a:solidFill>
            <a:srgbClr val="E1E8E2"/>
          </a:solidFill>
          <a:ln w="9525">
            <a:solidFill>
              <a:srgbClr val="C7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2" y="372160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2E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950" b="1">
                <a:solidFill>
                  <a:srgbClr val="93630F"/>
                </a:solidFill>
                <a:latin typeface="Consolas"/>
              </a:rPr>
              <a:t>Medium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73352" y="3721608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EE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950" b="1">
                <a:solidFill>
                  <a:srgbClr val="5B655F"/>
                </a:solidFill>
                <a:latin typeface="Consolas"/>
              </a:rPr>
              <a:t>Акции · BUG-004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366674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81A"/>
                </a:solidFill>
                <a:latin typeface="Calibri"/>
              </a:rPr>
              <a:t>Фильтр акций без результатов «зависает» в вечной загрузке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3922776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B655F"/>
                </a:solidFill>
                <a:latin typeface="Calibri"/>
              </a:rPr>
              <a:t>Пользователь упирается в крутящийся индикатор без объяснений — выглядит как зависший сайт.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343400"/>
            <a:ext cx="5760720" cy="2121408"/>
          </a:xfrm>
          <a:prstGeom prst="rect">
            <a:avLst/>
          </a:prstGeom>
          <a:solidFill>
            <a:srgbClr val="E1E8E2"/>
          </a:solidFill>
          <a:ln w="9525">
            <a:solidFill>
              <a:srgbClr val="C7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416552"/>
            <a:ext cx="2697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5B655F"/>
                </a:solidFill>
                <a:latin typeface="Consolas"/>
              </a:rPr>
              <a:t>ОБЫЧНАЯ ЗАГРУЗКА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4416552"/>
            <a:ext cx="2697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5B655F"/>
                </a:solidFill>
                <a:latin typeface="Consolas"/>
              </a:rPr>
              <a:t>ПОСЛЕ ОШИБКИ API</a:t>
            </a:r>
          </a:p>
        </p:txBody>
      </p:sp>
      <p:pic>
        <p:nvPicPr>
          <p:cNvPr id="24" name="Picture 23" descr="bug003-baseline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617720"/>
            <a:ext cx="1964346" cy="1005840"/>
          </a:xfrm>
          <a:prstGeom prst="rect">
            <a:avLst/>
          </a:prstGeom>
        </p:spPr>
      </p:pic>
      <p:pic>
        <p:nvPicPr>
          <p:cNvPr id="25" name="Picture 24" descr="bug003-broken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617720"/>
            <a:ext cx="1964346" cy="10058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77240" y="569671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0E6B57"/>
                </a:solidFill>
                <a:latin typeface="Consolas"/>
              </a:rPr>
              <a:t>РЕАЛЬНЫЙ СКРИНШОТ · ЛК, BUG-003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897880"/>
            <a:ext cx="54864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900">
                <a:solidFill>
                  <a:srgbClr val="5B655F"/>
                </a:solidFill>
                <a:latin typeface="Calibri"/>
              </a:rPr>
              <a:t>Слева — как должно быть, справа — тот же кабинет после ошибки одного эндпоинта: пропали независимые блоки.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4343400"/>
            <a:ext cx="4876495" cy="2121408"/>
          </a:xfrm>
          <a:prstGeom prst="rect">
            <a:avLst/>
          </a:prstGeom>
          <a:solidFill>
            <a:srgbClr val="E1E8E2"/>
          </a:solidFill>
          <a:ln w="9525">
            <a:solidFill>
              <a:srgbClr val="C7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bug004-cro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4480560"/>
            <a:ext cx="2225163" cy="10515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812280" y="5605272"/>
            <a:ext cx="460217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0E6B57"/>
                </a:solidFill>
                <a:latin typeface="Consolas"/>
              </a:rPr>
              <a:t>РЕАЛЬНЫЙ СКРИНШОТ · АКЦИИ, BUG-004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5806440"/>
            <a:ext cx="4602175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900">
                <a:solidFill>
                  <a:srgbClr val="5B655F"/>
                </a:solidFill>
                <a:latin typeface="Calibri"/>
              </a:rPr>
              <a:t>Блок «Цена» уже 0/0, а карточки так и не появились.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5B655F"/>
                </a:solidFill>
                <a:latin typeface="Consolas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E6B57"/>
                </a:solidFill>
                <a:latin typeface="Consolas"/>
              </a:rPr>
              <a:t>ЧТО ПРОИСХОДИТ ДАЛЬШЕ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4000"/>
              </a:lnSpc>
            </a:pPr>
            <a:r>
              <a:rPr sz="2500" b="1">
                <a:solidFill>
                  <a:srgbClr val="14181A"/>
                </a:solidFill>
                <a:latin typeface="Georgia"/>
              </a:rPr>
              <a:t>Тикет и уведомление появляются сами —
без баг-репорта вручную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37944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50">
                <a:solidFill>
                  <a:srgbClr val="5B655F"/>
                </a:solidFill>
                <a:latin typeface="Calibri"/>
              </a:rPr>
              <a:t>Как только тест находит расхождение, скрипт сам заводит тикет в таск-трекере и в ту же минуту публикует его в рабочий чат команды — со ссылкой и готовым описанием симптома.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68880"/>
            <a:ext cx="5394960" cy="3886200"/>
          </a:xfrm>
          <a:prstGeom prst="roundRect">
            <a:avLst>
              <a:gd name="adj" fmla="val 4000"/>
            </a:avLst>
          </a:prstGeom>
          <a:solidFill>
            <a:srgbClr val="1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2633472"/>
            <a:ext cx="5065776" cy="1170432"/>
          </a:xfrm>
          <a:prstGeom prst="roundRect">
            <a:avLst>
              <a:gd name="adj" fmla="val 10000"/>
            </a:avLst>
          </a:prstGeom>
          <a:solidFill>
            <a:srgbClr val="20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74320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7EE6B8"/>
                </a:solidFill>
                <a:latin typeface="Calibri"/>
              </a:rPr>
              <a:t>Mechta.kz BOT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2724912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26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950" b="1">
                <a:solidFill>
                  <a:srgbClr val="7EE6B8"/>
                </a:solidFill>
                <a:latin typeface="Consolas"/>
              </a:rPr>
              <a:t>АССИСТЕНТ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962656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E9EDEA"/>
                </a:solidFill>
                <a:latin typeface="Calibri"/>
              </a:rPr>
              <a:t>🐞 Новые баги от автотестов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32004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900" b="1">
                <a:solidFill>
                  <a:srgbClr val="5FB8FF"/>
                </a:solidFill>
                <a:latin typeface="Consolas"/>
              </a:rPr>
              <a:t>• AS-4500 — </a:t>
            </a:r>
            <a:r>
              <a:rPr sz="900">
                <a:solidFill>
                  <a:srgbClr val="E9EDEA"/>
                </a:solidFill>
                <a:latin typeface="Calibri"/>
              </a:rPr>
              <a:t>Название уценённого товара в «Деталях заказа» не кликабельно — нет перехода на страницу товара  [К выполнению]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3547872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8CA79B"/>
                </a:solidFill>
                <a:latin typeface="Consolas"/>
              </a:rPr>
              <a:t>15:24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" y="3913632"/>
            <a:ext cx="5065776" cy="1170432"/>
          </a:xfrm>
          <a:prstGeom prst="roundRect">
            <a:avLst>
              <a:gd name="adj" fmla="val 10000"/>
            </a:avLst>
          </a:prstGeom>
          <a:solidFill>
            <a:srgbClr val="20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402336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7EE6B8"/>
                </a:solidFill>
                <a:latin typeface="Calibri"/>
              </a:rPr>
              <a:t>Mechta.kz BOT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00600" y="4005072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26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950" b="1">
                <a:solidFill>
                  <a:srgbClr val="7EE6B8"/>
                </a:solidFill>
                <a:latin typeface="Consolas"/>
              </a:rPr>
              <a:t>АССИСТЕНТ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4242816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E9EDEA"/>
                </a:solidFill>
                <a:latin typeface="Calibri"/>
              </a:rPr>
              <a:t>🐞 Новые баги от автотестов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44805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900" b="1">
                <a:solidFill>
                  <a:srgbClr val="5FB8FF"/>
                </a:solidFill>
                <a:latin typeface="Consolas"/>
              </a:rPr>
              <a:t>• AS-4503 — </a:t>
            </a:r>
            <a:r>
              <a:rPr sz="900">
                <a:solidFill>
                  <a:srgbClr val="E9EDEA"/>
                </a:solidFill>
                <a:latin typeface="Calibri"/>
              </a:rPr>
              <a:t>На странице «Личный кабинет» крошка «Личный кабинет» отображается как обычная ссылка, а не как текущая страница  [К выполнению]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4828032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8CA79B"/>
                </a:solidFill>
                <a:latin typeface="Consolas"/>
              </a:rPr>
              <a:t>19:13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" y="5193792"/>
            <a:ext cx="5065776" cy="1170432"/>
          </a:xfrm>
          <a:prstGeom prst="roundRect">
            <a:avLst>
              <a:gd name="adj" fmla="val 10000"/>
            </a:avLst>
          </a:prstGeom>
          <a:solidFill>
            <a:srgbClr val="20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530352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7EE6B8"/>
                </a:solidFill>
                <a:latin typeface="Calibri"/>
              </a:rPr>
              <a:t>Mechta.kz BOT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00600" y="5285232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26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950" b="1">
                <a:solidFill>
                  <a:srgbClr val="7EE6B8"/>
                </a:solidFill>
                <a:latin typeface="Consolas"/>
              </a:rPr>
              <a:t>АССИСТЕНТ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" y="5522976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E9EDEA"/>
                </a:solidFill>
                <a:latin typeface="Calibri"/>
              </a:rPr>
              <a:t>🐞 Новые баги от автотестов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" y="57607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900" b="1">
                <a:solidFill>
                  <a:srgbClr val="5FB8FF"/>
                </a:solidFill>
                <a:latin typeface="Consolas"/>
              </a:rPr>
              <a:t>• AS-4505 — </a:t>
            </a:r>
            <a:r>
              <a:rPr sz="900">
                <a:solidFill>
                  <a:srgbClr val="E9EDEA"/>
                </a:solidFill>
                <a:latin typeface="Calibri"/>
              </a:rPr>
              <a:t>Ошибка GET /v2/personal обрушивает ВСЮ правую колонку ЛК, включая полностью независимые от неё блоки  [К выполнению]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6108192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8CA79B"/>
                </a:solidFill>
                <a:latin typeface="Consolas"/>
              </a:rPr>
              <a:t>19:37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788920"/>
            <a:ext cx="4572000" cy="996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0E6B57"/>
                </a:solidFill>
                <a:latin typeface="Consolas"/>
              </a:rPr>
              <a:t>→  </a:t>
            </a:r>
            <a:r>
              <a:rPr sz="1250" b="0">
                <a:solidFill>
                  <a:srgbClr val="14181A"/>
                </a:solidFill>
                <a:latin typeface="Calibri"/>
              </a:rPr>
              <a:t>Разработчик узнаёт о баге </a:t>
            </a:r>
            <a:r>
              <a:rPr sz="1250" b="1">
                <a:solidFill>
                  <a:srgbClr val="0E6B57"/>
                </a:solidFill>
                <a:latin typeface="Calibri"/>
              </a:rPr>
              <a:t>в течение минуты</a:t>
            </a:r>
            <a:r>
              <a:rPr sz="1250" b="0">
                <a:solidFill>
                  <a:srgbClr val="14181A"/>
                </a:solidFill>
                <a:latin typeface="Calibri"/>
              </a:rPr>
              <a:t> после прогона тестов — а не тогда, когда до него дойдёт очередь у тестировщика.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840479"/>
            <a:ext cx="4572000" cy="996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0E6B57"/>
                </a:solidFill>
                <a:latin typeface="Consolas"/>
              </a:rPr>
              <a:t>→  </a:t>
            </a:r>
            <a:r>
              <a:rPr sz="1250" b="0">
                <a:solidFill>
                  <a:srgbClr val="14181A"/>
                </a:solidFill>
                <a:latin typeface="Calibri"/>
              </a:rPr>
              <a:t>В тикете уже готовое описание и шаги воспроизведения — </a:t>
            </a:r>
            <a:r>
              <a:rPr sz="1250" b="1">
                <a:solidFill>
                  <a:srgbClr val="0E6B57"/>
                </a:solidFill>
                <a:latin typeface="Calibri"/>
              </a:rPr>
              <a:t>ничего не нужно пересказывать словами</a:t>
            </a:r>
            <a:r>
              <a:rPr sz="1250" b="0">
                <a:solidFill>
                  <a:srgbClr val="14181A"/>
                </a:solidFill>
                <a:latin typeface="Calibri"/>
              </a:rPr>
              <a:t> на созвоне.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892040"/>
            <a:ext cx="4572000" cy="996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0E6B57"/>
                </a:solidFill>
                <a:latin typeface="Consolas"/>
              </a:rPr>
              <a:t>→  </a:t>
            </a:r>
            <a:r>
              <a:rPr sz="1250" b="0">
                <a:solidFill>
                  <a:srgbClr val="14181A"/>
                </a:solidFill>
                <a:latin typeface="Calibri"/>
              </a:rPr>
              <a:t>Ничего не теряется в переписке — каждая находка сама встаёт в очередь </a:t>
            </a:r>
            <a:r>
              <a:rPr sz="1250" b="1">
                <a:solidFill>
                  <a:srgbClr val="0E6B57"/>
                </a:solidFill>
                <a:latin typeface="Calibri"/>
              </a:rPr>
              <a:t>«К выполнению»</a:t>
            </a:r>
            <a:r>
              <a:rPr sz="1250" b="0">
                <a:solidFill>
                  <a:srgbClr val="14181A"/>
                </a:solidFill>
                <a:latin typeface="Calibri"/>
              </a:rPr>
              <a:t> в таск-трекере.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5B655F"/>
                </a:solidFill>
                <a:latin typeface="Consolas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E6B57"/>
                </a:solidFill>
                <a:latin typeface="Consolas"/>
              </a:rPr>
              <a:t>РОЛЬ 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13816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4000"/>
              </a:lnSpc>
            </a:pPr>
            <a:r>
              <a:rPr sz="2700" b="1">
                <a:solidFill>
                  <a:srgbClr val="14181A"/>
                </a:solidFill>
                <a:latin typeface="Georgia"/>
              </a:rPr>
              <a:t>ИИ здесь не «кликер», а напарник,
который помнит весь проект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57400"/>
            <a:ext cx="3454298" cy="2331720"/>
          </a:xfrm>
          <a:prstGeom prst="rect">
            <a:avLst/>
          </a:prstGeom>
          <a:solidFill>
            <a:srgbClr val="E1E8E2"/>
          </a:solidFill>
          <a:ln w="9525">
            <a:solidFill>
              <a:srgbClr val="C7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21992"/>
            <a:ext cx="30885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E6B57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32888"/>
            <a:ext cx="308853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4181A"/>
                </a:solidFill>
                <a:latin typeface="Calibri"/>
              </a:rPr>
              <a:t>Сам читает план и пишет проверки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3088538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</a:pPr>
            <a:r>
              <a:rPr sz="1050">
                <a:solidFill>
                  <a:srgbClr val="5B655F"/>
                </a:solidFill>
                <a:latin typeface="Calibri"/>
              </a:rPr>
              <a:t>Из документа на сотни сценариев ИИ сам собирает рабочий код проверки — не нужно вручную переносить каждый пункт таблицы в тест.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8698" y="2057400"/>
            <a:ext cx="3454298" cy="2331720"/>
          </a:xfrm>
          <a:prstGeom prst="rect">
            <a:avLst/>
          </a:prstGeom>
          <a:solidFill>
            <a:srgbClr val="E1E8E2"/>
          </a:solidFill>
          <a:ln w="9525">
            <a:solidFill>
              <a:srgbClr val="C7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1578" y="2221992"/>
            <a:ext cx="30885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E6B57"/>
                </a:solidFill>
                <a:latin typeface="Consola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1578" y="2532888"/>
            <a:ext cx="308853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4181A"/>
                </a:solidFill>
                <a:latin typeface="Calibri"/>
              </a:rPr>
              <a:t>Находит то, чего нет в плане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1578" y="3017520"/>
            <a:ext cx="3088538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</a:pPr>
            <a:r>
              <a:rPr sz="1050">
                <a:solidFill>
                  <a:srgbClr val="5B655F"/>
                </a:solidFill>
                <a:latin typeface="Calibri"/>
              </a:rPr>
              <a:t>Помимо готовых сценариев, ИИ пробует «а что если» — пустые ответы сервера, ошибки, странные комбинации фильтров — и так находит баги, которые никто не описывал заранее.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7317" y="2057400"/>
            <a:ext cx="3454298" cy="2331720"/>
          </a:xfrm>
          <a:prstGeom prst="rect">
            <a:avLst/>
          </a:prstGeom>
          <a:solidFill>
            <a:srgbClr val="E1E8E2"/>
          </a:solidFill>
          <a:ln w="9525">
            <a:solidFill>
              <a:srgbClr val="C7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0197" y="2221992"/>
            <a:ext cx="30885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E6B57"/>
                </a:solidFill>
                <a:latin typeface="Consola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0197" y="2532888"/>
            <a:ext cx="308853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4181A"/>
                </a:solidFill>
                <a:latin typeface="Calibri"/>
              </a:rPr>
              <a:t>Помнит историю проекта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0197" y="3017520"/>
            <a:ext cx="3088538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</a:pPr>
            <a:r>
              <a:rPr sz="1050">
                <a:solidFill>
                  <a:srgbClr val="5B655F"/>
                </a:solidFill>
                <a:latin typeface="Calibri"/>
              </a:rPr>
              <a:t>Знает, какие странности сайта — осознанное решение дизайнера, а какие — реальный баг, и не тратит время на переоткрытие уже известного.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61772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450" b="0">
                <a:solidFill>
                  <a:srgbClr val="5B655F"/>
                </a:solidFill>
                <a:latin typeface="Calibri"/>
              </a:rPr>
              <a:t>Итог: небольшая команда с ИИ покрывает объём работы, для которого раньше требовался бы отдельный штат тестировщиков — потому что рутинную часть (написание проверок, чтение документации, оформление отчётов) ИИ берёт на себя.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5B655F"/>
                </a:solidFill>
                <a:latin typeface="Consolas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E6B57"/>
                </a:solidFill>
                <a:latin typeface="Consolas"/>
              </a:rPr>
              <a:t>МЕТОДОЛОГИЯ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22376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4000"/>
              </a:lnSpc>
            </a:pPr>
            <a:r>
              <a:rPr sz="2300" b="1">
                <a:solidFill>
                  <a:srgbClr val="14181A"/>
                </a:solidFill>
                <a:latin typeface="Georgia"/>
              </a:rPr>
              <a:t>Написан свой стандарт тестирования mechta.kz —
не промпты «с нуля» каждый раз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00784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50">
                <a:solidFill>
                  <a:srgbClr val="5B655F"/>
                </a:solidFill>
                <a:latin typeface="Calibri"/>
              </a:rPr>
              <a:t>Накопленный за почти полгода опыт — что проверять, какие ошибки Cypress уже известны, что считать багом, как вести баги в Jira от находки до фикса — оформлен в один документ. ИИ подгружает его автоматически при любой задаче по mechta.kz.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5943600" cy="3931920"/>
          </a:xfrm>
          <a:prstGeom prst="rect">
            <a:avLst/>
          </a:prstGeom>
          <a:solidFill>
            <a:srgbClr val="E1E8E2"/>
          </a:solidFill>
          <a:ln w="9525">
            <a:solidFill>
              <a:srgbClr val="C7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5B655F"/>
                </a:solidFill>
                <a:latin typeface="Consolas"/>
              </a:rPr>
              <a:t>MECHTA-E2E-TESTING / СКИЛЛ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242316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5B655F"/>
                </a:solidFill>
                <a:latin typeface="Consolas"/>
              </a:rPr>
              <a:t>~500 СТРОК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2697480"/>
            <a:ext cx="5943600" cy="0"/>
          </a:xfrm>
          <a:prstGeom prst="line">
            <a:avLst/>
          </a:prstGeom>
          <a:ln w="9525">
            <a:solidFill>
              <a:srgbClr val="C7D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2843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6B57"/>
                </a:solidFill>
                <a:latin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816352"/>
            <a:ext cx="5166360" cy="44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050">
                <a:solidFill>
                  <a:srgbClr val="14181A"/>
                </a:solidFill>
                <a:latin typeface="Calibri"/>
              </a:rPr>
              <a:t>Разведка перед каждым тестом — сначала факт на живом сайте и в API, потом код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3285309"/>
            <a:ext cx="5943600" cy="0"/>
          </a:xfrm>
          <a:prstGeom prst="line">
            <a:avLst/>
          </a:prstGeom>
          <a:ln w="6350">
            <a:solidFill>
              <a:srgbClr val="C7D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3340173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6B57"/>
                </a:solidFill>
                <a:latin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3312741"/>
            <a:ext cx="5166360" cy="44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050">
                <a:solidFill>
                  <a:srgbClr val="14181A"/>
                </a:solidFill>
                <a:latin typeface="Calibri"/>
              </a:rPr>
              <a:t>Единый стандарт «что считается багом, а что нет»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" y="3781697"/>
            <a:ext cx="5943600" cy="0"/>
          </a:xfrm>
          <a:prstGeom prst="line">
            <a:avLst/>
          </a:prstGeom>
          <a:ln w="6350">
            <a:solidFill>
              <a:srgbClr val="C7D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" y="3836561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6B57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8" y="3809129"/>
            <a:ext cx="5166360" cy="44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050">
                <a:solidFill>
                  <a:srgbClr val="14181A"/>
                </a:solidFill>
                <a:latin typeface="Calibri"/>
              </a:rPr>
              <a:t>Архитектурные соглашения проекта — единый стиль тестов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" y="4278086"/>
            <a:ext cx="5943600" cy="0"/>
          </a:xfrm>
          <a:prstGeom prst="line">
            <a:avLst/>
          </a:prstGeom>
          <a:ln w="6350">
            <a:solidFill>
              <a:srgbClr val="C7D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2960" y="433295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6B57"/>
                </a:solidFill>
                <a:latin typeface="Consola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" y="4305518"/>
            <a:ext cx="5166360" cy="44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050">
                <a:solidFill>
                  <a:srgbClr val="14181A"/>
                </a:solidFill>
                <a:latin typeface="Calibri"/>
              </a:rPr>
              <a:t>20+ задокументированных технических ловушек — не наступаем дважды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" y="4774474"/>
            <a:ext cx="5943600" cy="0"/>
          </a:xfrm>
          <a:prstGeom prst="line">
            <a:avLst/>
          </a:prstGeom>
          <a:ln w="6350">
            <a:solidFill>
              <a:srgbClr val="C7D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2960" y="482933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6B57"/>
                </a:solidFill>
                <a:latin typeface="Consola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8" y="4801906"/>
            <a:ext cx="5166360" cy="44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050">
                <a:solidFill>
                  <a:srgbClr val="14181A"/>
                </a:solidFill>
                <a:latin typeface="Calibri"/>
              </a:rPr>
              <a:t>6 профессиональных техник генерации кейсов (граничные значения, негативные сценарии, комбинаторика…)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80" y="5270863"/>
            <a:ext cx="5943600" cy="0"/>
          </a:xfrm>
          <a:prstGeom prst="line">
            <a:avLst/>
          </a:prstGeom>
          <a:ln w="6350">
            <a:solidFill>
              <a:srgbClr val="C7D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22960" y="5325727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6B57"/>
                </a:solidFill>
                <a:latin typeface="Consolas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7008" y="5298295"/>
            <a:ext cx="5166360" cy="44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050">
                <a:solidFill>
                  <a:srgbClr val="14181A"/>
                </a:solidFill>
                <a:latin typeface="Calibri"/>
              </a:rPr>
              <a:t>Частые баг-классы e-commerce: гонки в корзине, устаревшие цены, скидки задним числом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0080" y="5767251"/>
            <a:ext cx="5943600" cy="0"/>
          </a:xfrm>
          <a:prstGeom prst="line">
            <a:avLst/>
          </a:prstGeom>
          <a:ln w="6350">
            <a:solidFill>
              <a:srgbClr val="C7D0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22960" y="5822115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6B57"/>
                </a:solidFill>
                <a:latin typeface="Consolas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07008" y="5794683"/>
            <a:ext cx="5166360" cy="44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050">
                <a:solidFill>
                  <a:srgbClr val="14181A"/>
                </a:solidFill>
                <a:latin typeface="Calibri"/>
              </a:rPr>
              <a:t>Чек-лист «точно готово» перед тем как отчитаться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2514600"/>
            <a:ext cx="402336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150" b="1">
                <a:solidFill>
                  <a:srgbClr val="0E6B57"/>
                </a:solidFill>
                <a:latin typeface="Consolas"/>
              </a:rPr>
              <a:t>→  </a:t>
            </a:r>
            <a:r>
              <a:rPr sz="1150" b="0">
                <a:solidFill>
                  <a:srgbClr val="14181A"/>
                </a:solidFill>
                <a:latin typeface="Calibri"/>
              </a:rPr>
              <a:t>Написан один раз, применяется </a:t>
            </a:r>
            <a:r>
              <a:rPr sz="1150" b="1">
                <a:solidFill>
                  <a:srgbClr val="0E6B57"/>
                </a:solidFill>
                <a:latin typeface="Calibri"/>
              </a:rPr>
              <a:t>каждый раз автоматически</a:t>
            </a:r>
            <a:r>
              <a:rPr sz="1150" b="0">
                <a:solidFill>
                  <a:srgbClr val="14181A"/>
                </a:solidFill>
                <a:latin typeface="Calibri"/>
              </a:rPr>
              <a:t> — не пересказывается ИИ заново в каждом разговоре.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3429000"/>
            <a:ext cx="402336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150" b="1">
                <a:solidFill>
                  <a:srgbClr val="0E6B57"/>
                </a:solidFill>
                <a:latin typeface="Consolas"/>
              </a:rPr>
              <a:t>→  </a:t>
            </a:r>
            <a:r>
              <a:rPr sz="1150" b="0">
                <a:solidFill>
                  <a:srgbClr val="14181A"/>
                </a:solidFill>
                <a:latin typeface="Calibri"/>
              </a:rPr>
              <a:t>Использует те же техники, что и профессиональные QA-инженеры, а не проверки «на глаз».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4343400"/>
            <a:ext cx="402336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150" b="1">
                <a:solidFill>
                  <a:srgbClr val="0E6B57"/>
                </a:solidFill>
                <a:latin typeface="Consolas"/>
              </a:rPr>
              <a:t>→  </a:t>
            </a:r>
            <a:r>
              <a:rPr sz="1150" b="0">
                <a:solidFill>
                  <a:srgbClr val="14181A"/>
                </a:solidFill>
                <a:latin typeface="Calibri"/>
              </a:rPr>
              <a:t>Ловушки, на которые раньше уходили часы отладки, зафиксированы один раз и </a:t>
            </a:r>
            <a:r>
              <a:rPr sz="1150" b="1">
                <a:solidFill>
                  <a:srgbClr val="0E6B57"/>
                </a:solidFill>
                <a:latin typeface="Calibri"/>
              </a:rPr>
              <a:t>больше не повторяются</a:t>
            </a:r>
            <a:r>
              <a:rPr sz="1150" b="0">
                <a:solidFill>
                  <a:srgbClr val="14181A"/>
                </a:solidFill>
                <a:latin typeface="Calibri"/>
              </a:rPr>
              <a:t>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5257800"/>
            <a:ext cx="402336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150" b="1">
                <a:solidFill>
                  <a:srgbClr val="0E6B57"/>
                </a:solidFill>
                <a:latin typeface="Consolas"/>
              </a:rPr>
              <a:t>→  </a:t>
            </a:r>
            <a:r>
              <a:rPr sz="1150" b="0">
                <a:solidFill>
                  <a:srgbClr val="14181A"/>
                </a:solidFill>
                <a:latin typeface="Calibri"/>
              </a:rPr>
              <a:t>Стандарт тестирования не зависит от одного человека: подключится ли новый инженер или обновится ИИ — качество проверок остаётся тем же.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5B655F"/>
                </a:solidFill>
                <a:latin typeface="Consolas"/>
              </a:rPr>
              <a:t>10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E6B57"/>
                </a:solidFill>
                <a:latin typeface="Consolas"/>
              </a:rPr>
              <a:t>ЧТО ЭТО ЗНАЧИТ ДЛЯ БИЗНЕСА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4000"/>
              </a:lnSpc>
            </a:pPr>
            <a:r>
              <a:rPr sz="2500" b="1">
                <a:solidFill>
                  <a:srgbClr val="14181A"/>
                </a:solidFill>
                <a:latin typeface="Georgia"/>
              </a:rPr>
              <a:t>Такой подход к тестированию закрывает объём
команды из 3–4 тестировщиков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37944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50">
                <a:solidFill>
                  <a:srgbClr val="5B655F"/>
                </a:solidFill>
                <a:latin typeface="Calibri"/>
              </a:rPr>
              <a:t>Это оценка, а не рекламный лозунг — вот из чего она складывается: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10241280" cy="585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300" b="1">
                <a:solidFill>
                  <a:srgbClr val="0E6B57"/>
                </a:solidFill>
                <a:latin typeface="Consolas"/>
              </a:rPr>
              <a:t>→  </a:t>
            </a:r>
            <a:r>
              <a:rPr sz="1300" b="0">
                <a:solidFill>
                  <a:srgbClr val="14181A"/>
                </a:solidFill>
                <a:latin typeface="Calibri"/>
              </a:rPr>
              <a:t>Более </a:t>
            </a:r>
            <a:r>
              <a:rPr sz="1300" b="1">
                <a:solidFill>
                  <a:srgbClr val="0E6B57"/>
                </a:solidFill>
                <a:latin typeface="Calibri"/>
              </a:rPr>
              <a:t>750 задокументированных сценариев</a:t>
            </a:r>
            <a:r>
              <a:rPr sz="1300" b="0">
                <a:solidFill>
                  <a:srgbClr val="14181A"/>
                </a:solidFill>
                <a:latin typeface="Calibri"/>
              </a:rPr>
              <a:t> только по трём разделам — вручную такой объём нужно перепроверять командой при каждом крупном релизе, чтобы успевать в сроки.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54680"/>
            <a:ext cx="10241280" cy="585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300" b="1">
                <a:solidFill>
                  <a:srgbClr val="0E6B57"/>
                </a:solidFill>
                <a:latin typeface="Consolas"/>
              </a:rPr>
              <a:t>→  </a:t>
            </a:r>
            <a:r>
              <a:rPr sz="1300" b="0">
                <a:solidFill>
                  <a:srgbClr val="14181A"/>
                </a:solidFill>
                <a:latin typeface="Calibri"/>
              </a:rPr>
              <a:t>Автотест прогоняет весь набор за </a:t>
            </a:r>
            <a:r>
              <a:rPr sz="1300" b="1">
                <a:solidFill>
                  <a:srgbClr val="0E6B57"/>
                </a:solidFill>
                <a:latin typeface="Calibri"/>
              </a:rPr>
              <a:t>минуты</a:t>
            </a:r>
            <a:r>
              <a:rPr sz="1300" b="0">
                <a:solidFill>
                  <a:srgbClr val="14181A"/>
                </a:solidFill>
                <a:latin typeface="Calibri"/>
              </a:rPr>
              <a:t> и делает это </a:t>
            </a:r>
            <a:r>
              <a:rPr sz="1300" b="1">
                <a:solidFill>
                  <a:srgbClr val="0E6B57"/>
                </a:solidFill>
                <a:latin typeface="Calibri"/>
              </a:rPr>
              <a:t>бесплатно повторно</a:t>
            </a:r>
            <a:r>
              <a:rPr sz="1300" b="0">
                <a:solidFill>
                  <a:srgbClr val="14181A"/>
                </a:solidFill>
                <a:latin typeface="Calibri"/>
              </a:rPr>
              <a:t> на каждой следующей версии сайта — ручная проверка каждый раз начинается заново.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94760"/>
            <a:ext cx="10241280" cy="585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300" b="1">
                <a:solidFill>
                  <a:srgbClr val="0E6B57"/>
                </a:solidFill>
                <a:latin typeface="Consolas"/>
              </a:rPr>
              <a:t>→  </a:t>
            </a:r>
            <a:r>
              <a:rPr sz="1300" b="0">
                <a:solidFill>
                  <a:srgbClr val="14181A"/>
                </a:solidFill>
                <a:latin typeface="Calibri"/>
              </a:rPr>
              <a:t>Находит класс багов, которые ручное тестирование </a:t>
            </a:r>
            <a:r>
              <a:rPr sz="1300" b="1">
                <a:solidFill>
                  <a:srgbClr val="0E6B57"/>
                </a:solidFill>
                <a:latin typeface="Calibri"/>
              </a:rPr>
              <a:t>физически не видит</a:t>
            </a:r>
            <a:r>
              <a:rPr sz="1300" b="0">
                <a:solidFill>
                  <a:srgbClr val="14181A"/>
                </a:solidFill>
                <a:latin typeface="Calibri"/>
              </a:rPr>
              <a:t> — расхождения между экраном и сервером.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34840"/>
            <a:ext cx="10241280" cy="585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300" b="1">
                <a:solidFill>
                  <a:srgbClr val="0E6B57"/>
                </a:solidFill>
                <a:latin typeface="Consolas"/>
              </a:rPr>
              <a:t>→  </a:t>
            </a:r>
            <a:r>
              <a:rPr sz="1300" b="0">
                <a:solidFill>
                  <a:srgbClr val="14181A"/>
                </a:solidFill>
                <a:latin typeface="Calibri"/>
              </a:rPr>
              <a:t>Не увольняется, не устаёт, не забывает регресс перед пятничным релизом.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257800"/>
            <a:ext cx="3484778" cy="1234440"/>
          </a:xfrm>
          <a:prstGeom prst="roundRect">
            <a:avLst>
              <a:gd name="adj" fmla="val 10000"/>
            </a:avLst>
          </a:prstGeom>
          <a:solidFill>
            <a:srgbClr val="E1E8E2"/>
          </a:solidFill>
          <a:ln w="9525">
            <a:solidFill>
              <a:srgbClr val="C7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385816"/>
            <a:ext cx="315559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E6B57"/>
                </a:solidFill>
                <a:latin typeface="Consolas"/>
              </a:rPr>
              <a:t>1–2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5916168"/>
            <a:ext cx="315559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55F"/>
                </a:solidFill>
                <a:latin typeface="Calibri"/>
              </a:rPr>
              <a:t>инженера сегодня ведут весь процесс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3458" y="5257800"/>
            <a:ext cx="3484778" cy="1234440"/>
          </a:xfrm>
          <a:prstGeom prst="roundRect">
            <a:avLst>
              <a:gd name="adj" fmla="val 10000"/>
            </a:avLst>
          </a:prstGeom>
          <a:solidFill>
            <a:srgbClr val="E1E8E2"/>
          </a:solidFill>
          <a:ln w="9525">
            <a:solidFill>
              <a:srgbClr val="C7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8050" y="5385816"/>
            <a:ext cx="315559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E6B57"/>
                </a:solidFill>
                <a:latin typeface="Consolas"/>
              </a:rPr>
              <a:t>~3–4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8050" y="5916168"/>
            <a:ext cx="315559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55F"/>
                </a:solidFill>
                <a:latin typeface="Calibri"/>
              </a:rPr>
              <a:t>тестировщика понадобилось бы, чтобы вручную держать тот же охват и темп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7" y="5257800"/>
            <a:ext cx="3484778" cy="1234440"/>
          </a:xfrm>
          <a:prstGeom prst="roundRect">
            <a:avLst>
              <a:gd name="adj" fmla="val 10000"/>
            </a:avLst>
          </a:prstGeom>
          <a:solidFill>
            <a:srgbClr val="E1E8E2"/>
          </a:solidFill>
          <a:ln w="9525">
            <a:solidFill>
              <a:srgbClr val="C7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1429" y="5385816"/>
            <a:ext cx="315559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E6B57"/>
                </a:solidFill>
                <a:latin typeface="Consolas"/>
              </a:rPr>
              <a:t>0 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1429" y="5916168"/>
            <a:ext cx="315559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55F"/>
                </a:solidFill>
                <a:latin typeface="Calibri"/>
              </a:rPr>
              <a:t>стоимость повторного прогона проверки на следующем релизе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5B655F"/>
                </a:solidFill>
                <a:latin typeface="Consolas"/>
              </a:rPr>
              <a:t>11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E6B57"/>
                </a:solidFill>
                <a:latin typeface="Consolas"/>
              </a:rPr>
              <a:t>ДАЛЬШЕ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13816"/>
            <a:ext cx="109115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4000"/>
              </a:lnSpc>
            </a:pPr>
            <a:r>
              <a:rPr sz="2500" b="1">
                <a:solidFill>
                  <a:srgbClr val="14181A"/>
                </a:solidFill>
                <a:latin typeface="Georgia"/>
              </a:rPr>
              <a:t>Что нужно, чтобы это стало постоянной страховкой
сайта, а не разовым отчётом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E6B57"/>
                </a:solidFill>
                <a:latin typeface="Consola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331720"/>
            <a:ext cx="9692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400">
                <a:solidFill>
                  <a:srgbClr val="14181A"/>
                </a:solidFill>
                <a:latin typeface="Calibri"/>
              </a:rPr>
              <a:t>Устранить найденные баги — в приоритете High-severity (например, вход в аккаунт иногда не завершает сессию при выходе) — уже переданы разработчикам в трекер задач.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E6B57"/>
                </a:solidFill>
                <a:latin typeface="Consola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200400"/>
            <a:ext cx="9692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400">
                <a:solidFill>
                  <a:srgbClr val="14181A"/>
                </a:solidFill>
                <a:latin typeface="Calibri"/>
              </a:rPr>
              <a:t>Подключить автозапуск проверок к каждому релизу, чтобы баги ловились до того, как их увидит покупатель, а не после жалоб.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E6B57"/>
                </a:solidFill>
                <a:latin typeface="Consolas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069080"/>
            <a:ext cx="9692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400">
                <a:solidFill>
                  <a:srgbClr val="14181A"/>
                </a:solidFill>
                <a:latin typeface="Calibri"/>
              </a:rPr>
              <a:t>Постепенно расширять охват на новые разделы по мере роста сайта.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12080"/>
            <a:ext cx="10241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550">
                <a:solidFill>
                  <a:srgbClr val="5B655F"/>
                </a:solidFill>
                <a:latin typeface="Calibri"/>
              </a:rPr>
              <a:t>Итог простыми словами: сайт растёт быстрее, чем его можно проверить руками. Автотесты с ИИ дают возможность расти дальше без пропорционального роста команды — и без потери качества для покупателя.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5B655F"/>
                </a:solidFill>
                <a:latin typeface="Consolas"/>
              </a:rPr>
              <a:t>12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E6B57"/>
                </a:solidFill>
                <a:latin typeface="Consolas"/>
              </a:rPr>
              <a:t>ИИ ЗА РАБОТОЙ — РЕАЛЬНЫЙ ПРИМЕР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172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4000"/>
              </a:lnSpc>
            </a:pPr>
            <a:r>
              <a:rPr sz="2000" b="1">
                <a:solidFill>
                  <a:srgbClr val="14181A"/>
                </a:solidFill>
                <a:latin typeface="Georgia"/>
              </a:rPr>
              <a:t>ИИ сам находит свою же ошибку — и тут же её исправляет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0302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50">
                <a:solidFill>
                  <a:srgbClr val="5B655F"/>
                </a:solidFill>
                <a:latin typeface="Calibri"/>
              </a:rPr>
              <a:t>Ниже — дословный фрагмент переписки одной сессии тестирования, без правок и без монтажа.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50060"/>
            <a:ext cx="10911535" cy="4350000"/>
          </a:xfrm>
          <a:prstGeom prst="rect">
            <a:avLst/>
          </a:prstGeom>
          <a:solidFill>
            <a:srgbClr val="14181A"/>
          </a:solidFill>
          <a:ln w="9525">
            <a:solidFill>
              <a:srgbClr val="C7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i-transcript-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32940"/>
            <a:ext cx="10545775" cy="36584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728756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8FE3B8"/>
                </a:solidFill>
                <a:latin typeface="Consolas"/>
              </a:rPr>
              <a:t>РЕАЛЬНЫЙ ЛОГ · СЕССИЯ ТЕСТИРОВАНИЯ 2026-08-11 · БЕЗ ПРАВОК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5B655F"/>
                </a:solidFill>
                <a:latin typeface="Consolas"/>
              </a:rPr>
              <a:t>09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