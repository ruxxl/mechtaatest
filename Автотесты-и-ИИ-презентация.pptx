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●  ОТДЕЛ КАЧЕСТВА · MECHTA.KZ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9601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4200" b="1">
                <a:solidFill>
                  <a:srgbClr val="14181A"/>
                </a:solidFill>
                <a:latin typeface="Georgia"/>
              </a:rPr>
              <a:t>Автотесты и ИИ:</a:t>
            </a:r>
          </a:p>
          <a:p>
            <a:pPr>
              <a:lnSpc>
                <a:spcPct val="105000"/>
              </a:lnSpc>
            </a:pPr>
            <a:r>
              <a:rPr sz="4200" b="1">
                <a:solidFill>
                  <a:srgbClr val="14181A"/>
                </a:solidFill>
                <a:latin typeface="Georgia"/>
              </a:rPr>
              <a:t>как сайт проверяется быстрее,</a:t>
            </a:r>
          </a:p>
          <a:p>
            <a:pPr>
              <a:lnSpc>
                <a:spcPct val="105000"/>
              </a:lnSpc>
            </a:pPr>
            <a:r>
              <a:rPr sz="4200" b="1">
                <a:solidFill>
                  <a:srgbClr val="14181A"/>
                </a:solidFill>
                <a:latin typeface="Georgia"/>
              </a:rPr>
              <a:t>чем его успевают сломать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655F"/>
                </a:solidFill>
                <a:latin typeface="Calibri"/>
              </a:rPr>
              <a:t>Короткий отчёт о том, что за последние почти полгода построено в тестировании mechta.kz — простыми словами, без технических терминов.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434840"/>
            <a:ext cx="3484778" cy="137160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456285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93208"/>
            <a:ext cx="315559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автоматических проверок сайта, которые можно запускать в любой момент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4434840"/>
            <a:ext cx="3484778" cy="137160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8050" y="456285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050" y="5093208"/>
            <a:ext cx="315559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реальных багов найдено и передано разработчикам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7" y="4434840"/>
            <a:ext cx="3484778" cy="137160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1429" y="456285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1429" y="5093208"/>
            <a:ext cx="315559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ключевых разделов сайта под постоянным контролем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11535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400" b="1">
                <a:solidFill>
                  <a:srgbClr val="14181A"/>
                </a:solidFill>
                <a:latin typeface="Georgia"/>
              </a:rPr>
              <a:t>Сайт меняется каждую неделю. Проверить всё
руками — уже физически невозможно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1226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У mechta.kz — каталог, фильтры, уценённые товары, акции, корзина, личный кабинет, оформление заказа. Каждое обновление может незаметно сломать то, что раньше работало.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06040"/>
            <a:ext cx="5318608" cy="365760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807208"/>
            <a:ext cx="4861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5B655F"/>
                </a:solidFill>
                <a:latin typeface="Consolas"/>
              </a:rPr>
              <a:t>ПРОВЕРКА РУКАМИ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9184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Тестировщик кликает по сайту глазами и оценивает, что видно на экране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06908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Полная проверка одного раздела — часы или дни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484632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Перед каждым релизом — либо повторять всё заново, либо рисковать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62356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Не видно, что реально происходит на сервере — только то, что показал экран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8" y="2606040"/>
            <a:ext cx="5318608" cy="3657600"/>
          </a:xfrm>
          <a:prstGeom prst="rect">
            <a:avLst/>
          </a:prstGeom>
          <a:solidFill>
            <a:srgbClr val="DCEFE9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9040" y="2807208"/>
            <a:ext cx="4861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АВТОТЕСТ + 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9040" y="329184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Робот повторяет действия покупателя и сверяет каждый шаг с ответом сервера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040" y="406908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Полный прогон раздела — минуты, без участия человека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40" y="484632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Прогоняется перед каждым релизом бесплатно, сколько угодно раз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040" y="562356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Ловит расхождения между экраном и базой данных, которые глазами не увидеть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ЭТО ТАКОЕ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1381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600" b="1">
                <a:solidFill>
                  <a:srgbClr val="14181A"/>
                </a:solidFill>
                <a:latin typeface="Georgia"/>
              </a:rPr>
              <a:t>По сути — очень внимательный покупатель,
который никогда не устаёт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8366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Программа заходит на сайт как обычный клиент: открывает каталог, ставит фильтры, кладёт товар в корзину, оформляет заказ, заходит в личный кабинет. Она делает это в точности по сценариям, которые прописаны в тест-плане — документе, где расписано, как сайт должен себя вести в каждой ситуации.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9875520" cy="813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4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400" b="0">
                <a:solidFill>
                  <a:srgbClr val="14181A"/>
                </a:solidFill>
                <a:latin typeface="Calibri"/>
              </a:rPr>
              <a:t>Проверяет не только «страница открылась», а точное поведение: </a:t>
            </a:r>
            <a:r>
              <a:rPr sz="1400" b="1">
                <a:solidFill>
                  <a:srgbClr val="0E6B57"/>
                </a:solidFill>
                <a:latin typeface="Calibri"/>
              </a:rPr>
              <a:t>правильную цену, правильное количество товаров, правильный текст ошибки</a:t>
            </a:r>
            <a:r>
              <a:rPr sz="1400" b="0">
                <a:solidFill>
                  <a:srgbClr val="14181A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9875520" cy="813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4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400" b="0">
                <a:solidFill>
                  <a:srgbClr val="14181A"/>
                </a:solidFill>
                <a:latin typeface="Calibri"/>
              </a:rPr>
              <a:t>Запускается по требованию или перед выкладкой новой версии сайта — </a:t>
            </a:r>
            <a:r>
              <a:rPr sz="1400" b="1">
                <a:solidFill>
                  <a:srgbClr val="0E6B57"/>
                </a:solidFill>
                <a:latin typeface="Calibri"/>
              </a:rPr>
              <a:t>за минуты, а не дни</a:t>
            </a:r>
            <a:r>
              <a:rPr sz="1400" b="0">
                <a:solidFill>
                  <a:srgbClr val="14181A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9875520" cy="813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4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400" b="0">
                <a:solidFill>
                  <a:srgbClr val="14181A"/>
                </a:solidFill>
                <a:latin typeface="Calibri"/>
              </a:rPr>
              <a:t>Если что-то сломалось — сразу присылает точный отчёт: </a:t>
            </a:r>
            <a:r>
              <a:rPr sz="1400" b="1">
                <a:solidFill>
                  <a:srgbClr val="0E6B57"/>
                </a:solidFill>
                <a:latin typeface="Calibri"/>
              </a:rPr>
              <a:t>какая страница, какой шаг, что должно быть и что произошло на самом деле</a:t>
            </a:r>
            <a:r>
              <a:rPr sz="1400" b="0">
                <a:solidFill>
                  <a:srgbClr val="14181A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КАК ИМЕННО ПРОВЕРЯЕТ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500" b="1">
                <a:solidFill>
                  <a:srgbClr val="14181A"/>
                </a:solidFill>
                <a:latin typeface="Georgia"/>
              </a:rPr>
              <a:t>Двойная проверка: то, что видит клиент,
и то, что реально ответил сервер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3794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У любого действия на сайте есть две стороны: картинка на экране и данные, которые в этот момент вернул сервер «под капотом». Обычный тестировщик видит только первое. Наши тесты сверяют оба.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5318608" cy="388620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ug00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23160"/>
            <a:ext cx="5318608" cy="20775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610469"/>
            <a:ext cx="49528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E6B57"/>
                </a:solidFill>
                <a:latin typeface="Consolas"/>
              </a:rPr>
              <a:t>РЕАЛЬНЫЙ СКРИНШОТ · ТОВАР, BUG-002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66501"/>
            <a:ext cx="495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181A"/>
                </a:solidFill>
                <a:latin typeface="Calibri"/>
              </a:rPr>
              <a:t>Клик «В корзину» при ошибке сервера — экран просто гаснет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68837"/>
            <a:ext cx="4952848" cy="949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Сервер ответил ошибкой 500, но интерфейс всё равно «открыл» панель успеха — только сломанную и невидимую. Тест сравнивает ответ сервера с тем, что реально показано на экране, и ловит подмену мгновенно.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8" y="2423160"/>
            <a:ext cx="5318608" cy="388620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ug007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5026" y="2423160"/>
            <a:ext cx="323457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15888" y="4681728"/>
            <a:ext cx="49528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E6B57"/>
                </a:solidFill>
                <a:latin typeface="Consolas"/>
              </a:rPr>
              <a:t>РЕАЛЬНЫЙ СКРИНШОТ · ТОВАР, BUG-007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88" y="4937760"/>
            <a:ext cx="495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181A"/>
                </a:solidFill>
                <a:latin typeface="Calibri"/>
              </a:rPr>
              <a:t>Карточка обещает «(1) отзыв» — а у товара их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8" y="5340096"/>
            <a:ext cx="4952848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Карусель «Похожие товары» берёт рейтинг из одного источника данных, а сама страница товара — из другого. Разницу видно только сверяя ответы сервера, глазами — никогда.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УЖЕ СДЕЛАНО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13816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700" b="1">
                <a:solidFill>
                  <a:srgbClr val="14181A"/>
                </a:solidFill>
                <a:latin typeface="Georgia"/>
              </a:rPr>
              <a:t>Пять разделов сайта — под постоянным присмотром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965960"/>
            <a:ext cx="10911535" cy="0"/>
          </a:xfrm>
          <a:prstGeom prst="line">
            <a:avLst/>
          </a:prstGeom>
          <a:ln w="15875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0391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55F"/>
                </a:solidFill>
                <a:latin typeface="Consolas"/>
              </a:rPr>
              <a:t>РАЗДЕЛ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391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55F"/>
                </a:solidFill>
                <a:latin typeface="Consolas"/>
              </a:rPr>
              <a:t>СЦЕНАРИЕВ В ПЛАНЕ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0391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55F"/>
                </a:solidFill>
                <a:latin typeface="Consolas"/>
              </a:rPr>
              <a:t>АВТОТЕСТОВ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039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55F"/>
                </a:solidFill>
                <a:latin typeface="Consolas"/>
              </a:rPr>
              <a:t>СТАТУС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2404872"/>
            <a:ext cx="10911535" cy="0"/>
          </a:xfrm>
          <a:prstGeom prst="line">
            <a:avLst/>
          </a:prstGeom>
          <a:ln w="9525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25328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Карточка товара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5328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17 файлов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251460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DE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3B7A5C"/>
                </a:solidFill>
                <a:latin typeface="Consolas"/>
              </a:rPr>
              <a:t>закрыт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2971800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309981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Уценённые товары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099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364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09981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20 файлов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3081528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F2E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93630F"/>
                </a:solidFill>
                <a:latin typeface="Consolas"/>
              </a:rPr>
              <a:t>закрыт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538728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36667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Личный кабинет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666744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285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66674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7 файлов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3648456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F2E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93630F"/>
                </a:solidFill>
                <a:latin typeface="Consolas"/>
              </a:rPr>
              <a:t>закрыт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4105656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" y="42336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Каталог и фильтры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423367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4233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3 файла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215384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DE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3B7A5C"/>
                </a:solidFill>
                <a:latin typeface="Consolas"/>
              </a:rPr>
              <a:t>покрыт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" y="4672584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0080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Акции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48006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48006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5 файлов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478231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DE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3B7A5C"/>
                </a:solidFill>
                <a:latin typeface="Consolas"/>
              </a:rPr>
              <a:t>покрыт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0080" y="5239512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0080" y="5468112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>
                <a:solidFill>
                  <a:srgbClr val="5B655F"/>
                </a:solidFill>
                <a:latin typeface="Calibri"/>
              </a:rPr>
              <a:t>Итого задокументировано и сверено с сайтом свыше 750 конкретных проверочных сценариев только по трём крупнейшим разделам. Работа ведётся с 26 февраля 2026 — 90 версий тестового набора за неполные шесть месяцев.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УЖЕ НАШЛИ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22376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300" b="1">
                <a:solidFill>
                  <a:srgbClr val="14181A"/>
                </a:solidFill>
                <a:latin typeface="Georgia"/>
              </a:rPr>
              <a:t>17 реальных багов — не гипотез, а подтверждённых,
с шагами воспроизведения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078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Каждый баг оформлен так, чтобы разработчик мог открыть документ и сразу понять, что чинить — без лишних вопросов и созвонов.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10911535" cy="56692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44144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5E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A9332C"/>
                </a:solidFill>
                <a:latin typeface="Consolas"/>
              </a:rPr>
              <a:t>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73352" y="2441448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5B655F"/>
                </a:solidFill>
                <a:latin typeface="Consolas"/>
              </a:rPr>
              <a:t>ЛК · BUG-003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38658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1A"/>
                </a:solidFill>
                <a:latin typeface="Calibri"/>
              </a:rPr>
              <a:t>Ошибка в одном блоке личного кабинета обрушивает всю страницу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642616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B655F"/>
                </a:solidFill>
                <a:latin typeface="Calibri"/>
              </a:rPr>
              <a:t>Пропадают избранное, отзывы, история просмотров — хотя они не связаны со сломанным блоком.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71800"/>
            <a:ext cx="10911535" cy="56692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" y="30815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5E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A9332C"/>
                </a:solidFill>
                <a:latin typeface="Consolas"/>
              </a:rPr>
              <a:t>High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3352" y="3081528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5B655F"/>
                </a:solidFill>
                <a:latin typeface="Consolas"/>
              </a:rPr>
              <a:t>Товар · BUG-002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0266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1A"/>
                </a:solidFill>
                <a:latin typeface="Calibri"/>
              </a:rPr>
              <a:t>Ложный «успех» при ошибке добавления в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282696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B655F"/>
                </a:solidFill>
                <a:latin typeface="Calibri"/>
              </a:rPr>
              <a:t>Интерфейс показывает, что товар добавлен, даже когда сервер вернул ошибку — риск потерянных продаж.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11880"/>
            <a:ext cx="10911535" cy="56692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" y="372160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2E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93630F"/>
                </a:solidFill>
                <a:latin typeface="Consolas"/>
              </a:rPr>
              <a:t>Medium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73352" y="3721608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5B655F"/>
                </a:solidFill>
                <a:latin typeface="Consolas"/>
              </a:rPr>
              <a:t>Акции · BUG-004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6667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1A"/>
                </a:solidFill>
                <a:latin typeface="Calibri"/>
              </a:rPr>
              <a:t>Фильтр акций без результатов «зависает» в вечной загрузке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922776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B655F"/>
                </a:solidFill>
                <a:latin typeface="Calibri"/>
              </a:rPr>
              <a:t>Пользователь упирается в крутящийся индикатор без объяснений — выглядит как зависший сайт.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43400"/>
            <a:ext cx="5760720" cy="212140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16552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B655F"/>
                </a:solidFill>
                <a:latin typeface="Consolas"/>
              </a:rPr>
              <a:t>ОБЫЧНАЯ ЗАГРУЗКА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4416552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B655F"/>
                </a:solidFill>
                <a:latin typeface="Consolas"/>
              </a:rPr>
              <a:t>ПОСЛЕ ОШИБКИ API</a:t>
            </a:r>
          </a:p>
        </p:txBody>
      </p:sp>
      <p:pic>
        <p:nvPicPr>
          <p:cNvPr id="24" name="Picture 23" descr="bug003-baseline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17720"/>
            <a:ext cx="1964346" cy="1005840"/>
          </a:xfrm>
          <a:prstGeom prst="rect">
            <a:avLst/>
          </a:prstGeom>
        </p:spPr>
      </p:pic>
      <p:pic>
        <p:nvPicPr>
          <p:cNvPr id="25" name="Picture 24" descr="bug003-broken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4617720"/>
            <a:ext cx="1964346" cy="1005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" y="56967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E6B57"/>
                </a:solidFill>
                <a:latin typeface="Consolas"/>
              </a:rPr>
              <a:t>РЕАЛЬНЫЙ СКРИНШОТ · ЛК, BUG-003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97880"/>
            <a:ext cx="5486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>
                <a:solidFill>
                  <a:srgbClr val="5B655F"/>
                </a:solidFill>
                <a:latin typeface="Calibri"/>
              </a:rPr>
              <a:t>Слева — как должно быть, справа — тот же кабинет после ошибки одного эндпоинта: пропали независимые блоки.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4343400"/>
            <a:ext cx="4876495" cy="212140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ug004-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480560"/>
            <a:ext cx="2225163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12280" y="5605272"/>
            <a:ext cx="46021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E6B57"/>
                </a:solidFill>
                <a:latin typeface="Consolas"/>
              </a:rPr>
              <a:t>РЕАЛЬНЫЙ СКРИНШОТ · АКЦИИ, BUG-004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5806440"/>
            <a:ext cx="460217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>
                <a:solidFill>
                  <a:srgbClr val="5B655F"/>
                </a:solidFill>
                <a:latin typeface="Calibri"/>
              </a:rPr>
              <a:t>Блок «Цена» уже 0/0, а карточки так и не появились.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ПРОИСХОДИТ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500" b="1">
                <a:solidFill>
                  <a:srgbClr val="14181A"/>
                </a:solidFill>
                <a:latin typeface="Georgia"/>
              </a:rPr>
              <a:t>Тикет и уведомление появляются сами —
без баг-репорта вручную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3794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Как только тест находит расхождение, скрипт сам заводит тикет в таск-трекере и в ту же минуту публикует его в рабочий чат команды — со ссылкой и готовым описанием симптома.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5394960" cy="3886200"/>
          </a:xfrm>
          <a:prstGeom prst="roundRect">
            <a:avLst>
              <a:gd name="adj" fmla="val 4000"/>
            </a:avLst>
          </a:prstGeom>
          <a:solidFill>
            <a:srgbClr val="1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633472"/>
            <a:ext cx="5065776" cy="1170432"/>
          </a:xfrm>
          <a:prstGeom prst="roundRect">
            <a:avLst>
              <a:gd name="adj" fmla="val 10000"/>
            </a:avLst>
          </a:prstGeom>
          <a:solidFill>
            <a:srgbClr val="20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74320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7EE6B8"/>
                </a:solidFill>
                <a:latin typeface="Calibri"/>
              </a:rPr>
              <a:t>Mechta.kz BOT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2724912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26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7EE6B8"/>
                </a:solidFill>
                <a:latin typeface="Consolas"/>
              </a:rPr>
              <a:t>АССИСТЕНТ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96265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9EDEA"/>
                </a:solidFill>
                <a:latin typeface="Calibri"/>
              </a:rPr>
              <a:t>🐞 Новые баги от автотестов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2004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 b="1">
                <a:solidFill>
                  <a:srgbClr val="5FB8FF"/>
                </a:solidFill>
                <a:latin typeface="Consolas"/>
              </a:rPr>
              <a:t>• AS-4500 — </a:t>
            </a:r>
            <a:r>
              <a:rPr sz="900">
                <a:solidFill>
                  <a:srgbClr val="E9EDEA"/>
                </a:solidFill>
                <a:latin typeface="Calibri"/>
              </a:rPr>
              <a:t>Название уценённого товара в «Деталях заказа» не кликабельно — нет перехода на страницу товара  [К выполнению]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354787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A79B"/>
                </a:solidFill>
                <a:latin typeface="Consolas"/>
              </a:rPr>
              <a:t>15:24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913632"/>
            <a:ext cx="5065776" cy="1170432"/>
          </a:xfrm>
          <a:prstGeom prst="roundRect">
            <a:avLst>
              <a:gd name="adj" fmla="val 10000"/>
            </a:avLst>
          </a:prstGeom>
          <a:solidFill>
            <a:srgbClr val="20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402336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7EE6B8"/>
                </a:solidFill>
                <a:latin typeface="Calibri"/>
              </a:rPr>
              <a:t>Mechta.kz BOT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4005072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26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7EE6B8"/>
                </a:solidFill>
                <a:latin typeface="Consolas"/>
              </a:rPr>
              <a:t>АССИСТЕНТ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4242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9EDEA"/>
                </a:solidFill>
                <a:latin typeface="Calibri"/>
              </a:rPr>
              <a:t>🐞 Новые баги от автотестов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44805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 b="1">
                <a:solidFill>
                  <a:srgbClr val="5FB8FF"/>
                </a:solidFill>
                <a:latin typeface="Consolas"/>
              </a:rPr>
              <a:t>• AS-4503 — </a:t>
            </a:r>
            <a:r>
              <a:rPr sz="900">
                <a:solidFill>
                  <a:srgbClr val="E9EDEA"/>
                </a:solidFill>
                <a:latin typeface="Calibri"/>
              </a:rPr>
              <a:t>На странице «Личный кабинет» крошка «Личный кабинет» отображается как обычная ссылка, а не как текущая страница  [К выполнению]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82803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A79B"/>
                </a:solidFill>
                <a:latin typeface="Consolas"/>
              </a:rPr>
              <a:t>19:13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5193792"/>
            <a:ext cx="5065776" cy="1170432"/>
          </a:xfrm>
          <a:prstGeom prst="roundRect">
            <a:avLst>
              <a:gd name="adj" fmla="val 10000"/>
            </a:avLst>
          </a:prstGeom>
          <a:solidFill>
            <a:srgbClr val="20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3035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7EE6B8"/>
                </a:solidFill>
                <a:latin typeface="Calibri"/>
              </a:rPr>
              <a:t>Mechta.kz 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5285232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26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7EE6B8"/>
                </a:solidFill>
                <a:latin typeface="Consolas"/>
              </a:rPr>
              <a:t>АССИСТЕНТ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552297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9EDEA"/>
                </a:solidFill>
                <a:latin typeface="Calibri"/>
              </a:rPr>
              <a:t>🐞 Новые баги от автотестов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7607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 b="1">
                <a:solidFill>
                  <a:srgbClr val="5FB8FF"/>
                </a:solidFill>
                <a:latin typeface="Consolas"/>
              </a:rPr>
              <a:t>• AS-4505 — </a:t>
            </a:r>
            <a:r>
              <a:rPr sz="900">
                <a:solidFill>
                  <a:srgbClr val="E9EDEA"/>
                </a:solidFill>
                <a:latin typeface="Calibri"/>
              </a:rPr>
              <a:t>Ошибка GET /v2/personal обрушивает ВСЮ правую колонку ЛК, включая полностью независимые от неё блоки  [К выполнению]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1081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A79B"/>
                </a:solidFill>
                <a:latin typeface="Consolas"/>
              </a:rPr>
              <a:t>19:37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788920"/>
            <a:ext cx="4572000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250" b="0">
                <a:solidFill>
                  <a:srgbClr val="14181A"/>
                </a:solidFill>
                <a:latin typeface="Calibri"/>
              </a:rPr>
              <a:t>Разработчик узнаёт о баге </a:t>
            </a:r>
            <a:r>
              <a:rPr sz="1250" b="1">
                <a:solidFill>
                  <a:srgbClr val="0E6B57"/>
                </a:solidFill>
                <a:latin typeface="Calibri"/>
              </a:rPr>
              <a:t>в течение минуты</a:t>
            </a:r>
            <a:r>
              <a:rPr sz="1250" b="0">
                <a:solidFill>
                  <a:srgbClr val="14181A"/>
                </a:solidFill>
                <a:latin typeface="Calibri"/>
              </a:rPr>
              <a:t> после прогона тестов — а не тогда, когда до него дойдёт очередь у тестировщика.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40479"/>
            <a:ext cx="4572000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250" b="0">
                <a:solidFill>
                  <a:srgbClr val="14181A"/>
                </a:solidFill>
                <a:latin typeface="Calibri"/>
              </a:rPr>
              <a:t>В тикете уже готовое описание и шаги воспроизведения — </a:t>
            </a:r>
            <a:r>
              <a:rPr sz="1250" b="1">
                <a:solidFill>
                  <a:srgbClr val="0E6B57"/>
                </a:solidFill>
                <a:latin typeface="Calibri"/>
              </a:rPr>
              <a:t>ничего не нужно пересказывать словами</a:t>
            </a:r>
            <a:r>
              <a:rPr sz="1250" b="0">
                <a:solidFill>
                  <a:srgbClr val="14181A"/>
                </a:solidFill>
                <a:latin typeface="Calibri"/>
              </a:rPr>
              <a:t> на созвоне.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892040"/>
            <a:ext cx="4572000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250" b="0">
                <a:solidFill>
                  <a:srgbClr val="14181A"/>
                </a:solidFill>
                <a:latin typeface="Calibri"/>
              </a:rPr>
              <a:t>Ничего не теряется в переписке — каждая находка сама встаёт в очередь </a:t>
            </a:r>
            <a:r>
              <a:rPr sz="1250" b="1">
                <a:solidFill>
                  <a:srgbClr val="0E6B57"/>
                </a:solidFill>
                <a:latin typeface="Calibri"/>
              </a:rPr>
              <a:t>«К выполнению»</a:t>
            </a:r>
            <a:r>
              <a:rPr sz="1250" b="0">
                <a:solidFill>
                  <a:srgbClr val="14181A"/>
                </a:solidFill>
                <a:latin typeface="Calibri"/>
              </a:rPr>
              <a:t> в таск-трекере.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РОЛЬ 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1381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700" b="1">
                <a:solidFill>
                  <a:srgbClr val="14181A"/>
                </a:solidFill>
                <a:latin typeface="Georgia"/>
              </a:rPr>
              <a:t>ИИ здесь не «кликер», а напарник,
который помнит весь проект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54298" cy="233172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2199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E6B57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32888"/>
            <a:ext cx="30885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4181A"/>
                </a:solidFill>
                <a:latin typeface="Calibri"/>
              </a:rPr>
              <a:t>Сам читает план и пишет проверки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308853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Из документа на сотни сценариев ИИ сам собирает рабочий код проверки — не нужно вручную переносить каждый пункт таблицы в тест.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2057400"/>
            <a:ext cx="3454298" cy="233172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1578" y="222199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E6B57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532888"/>
            <a:ext cx="30885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4181A"/>
                </a:solidFill>
                <a:latin typeface="Calibri"/>
              </a:rPr>
              <a:t>Находит то, чего нет в плане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Помимо готовых сценариев, ИИ пробует «а что если» — пустые ответы сервера, ошибки, странные комбинации фильтров — и так находит баги, которые никто не описывал заранее.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7" y="2057400"/>
            <a:ext cx="3454298" cy="233172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7" y="222199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E6B57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7" y="2532888"/>
            <a:ext cx="30885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4181A"/>
                </a:solidFill>
                <a:latin typeface="Calibri"/>
              </a:rPr>
              <a:t>Помнит историю проекта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197" y="3017520"/>
            <a:ext cx="308853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Знает, какие странности сайта — осознанное решение дизайнера, а какие — реальный баг, и не тратит время на переоткрытие уже известного.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sz="1450" b="0">
                <a:solidFill>
                  <a:srgbClr val="5B655F"/>
                </a:solidFill>
                <a:latin typeface="Calibri"/>
              </a:rPr>
              <a:t>Итог: небольшая команда с ИИ покрывает объём работы, для которого раньше требовался бы отдельный штат тестировщиков — потому что рутинную часть (написание проверок, чтение документации, оформление отчётов) ИИ берёт на себя.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МЕТОДОЛОГИЯ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22376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300" b="1">
                <a:solidFill>
                  <a:srgbClr val="14181A"/>
                </a:solidFill>
                <a:latin typeface="Georgia"/>
              </a:rPr>
              <a:t>Написан свой стандарт тестирования mechta.kz —
не промпты «с нуля» каждый раз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078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Накопленный за почти полгода опыт — что проверять, какие ошибки Cypress уже известны, что считать багом, как вести баги в Jira от находки до фикса — оформлен в один документ. ИИ подгружает его автоматически при любой задаче по mechta.kz.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943600" cy="393192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5B655F"/>
                </a:solidFill>
                <a:latin typeface="Consolas"/>
              </a:rPr>
              <a:t>MECHTA-E2E-TESTING / СКИЛЛ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42316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5B655F"/>
                </a:solidFill>
                <a:latin typeface="Consolas"/>
              </a:rPr>
              <a:t>~500 СТРОК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2697480"/>
            <a:ext cx="5943600" cy="0"/>
          </a:xfrm>
          <a:prstGeom prst="line">
            <a:avLst/>
          </a:prstGeom>
          <a:ln w="9525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437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16352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Разведка перед каждым тестом — сначала факт на живом сайте и в API, потом код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285309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34017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312741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Единый стандарт «что считается багом, а что нет»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3781697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3836561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809129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Архитектурные соглашения проекта — единый стиль тестов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4278086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33295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4305518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20+ задокументированных технических ловушек — не наступаем дважды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4774474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482933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4801906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6 профессиональных техник генерации кейсов (граничные значения, негативные сценарии, комбинаторика…)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5270863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5325727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8" y="5298295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Частые баг-классы e-commerce: гонки в корзине, устаревшие цены, скидки задним числом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5767251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2960" y="58221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5794683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Чек-лист «точно готово» перед тем как отчитаться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514600"/>
            <a:ext cx="40233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1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150" b="0">
                <a:solidFill>
                  <a:srgbClr val="14181A"/>
                </a:solidFill>
                <a:latin typeface="Calibri"/>
              </a:rPr>
              <a:t>Написан один раз, применяется </a:t>
            </a:r>
            <a:r>
              <a:rPr sz="1150" b="1">
                <a:solidFill>
                  <a:srgbClr val="0E6B57"/>
                </a:solidFill>
                <a:latin typeface="Calibri"/>
              </a:rPr>
              <a:t>каждый раз автоматически</a:t>
            </a:r>
            <a:r>
              <a:rPr sz="1150" b="0">
                <a:solidFill>
                  <a:srgbClr val="14181A"/>
                </a:solidFill>
                <a:latin typeface="Calibri"/>
              </a:rPr>
              <a:t> — не пересказывается ИИ заново в каждом разговоре.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3429000"/>
            <a:ext cx="40233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1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150" b="0">
                <a:solidFill>
                  <a:srgbClr val="14181A"/>
                </a:solidFill>
                <a:latin typeface="Calibri"/>
              </a:rPr>
              <a:t>Использует те же техники, что и профессиональные QA-инженеры, а не проверки «на глаз».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343400"/>
            <a:ext cx="40233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1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150" b="0">
                <a:solidFill>
                  <a:srgbClr val="14181A"/>
                </a:solidFill>
                <a:latin typeface="Calibri"/>
              </a:rPr>
              <a:t>Ловушки, на которые раньше уходили часы отладки, зафиксированы один раз и </a:t>
            </a:r>
            <a:r>
              <a:rPr sz="1150" b="1">
                <a:solidFill>
                  <a:srgbClr val="0E6B57"/>
                </a:solidFill>
                <a:latin typeface="Calibri"/>
              </a:rPr>
              <a:t>больше не повторяются</a:t>
            </a:r>
            <a:r>
              <a:rPr sz="1150" b="0">
                <a:solidFill>
                  <a:srgbClr val="14181A"/>
                </a:solidFill>
                <a:latin typeface="Calibri"/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5257800"/>
            <a:ext cx="40233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1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150" b="0">
                <a:solidFill>
                  <a:srgbClr val="14181A"/>
                </a:solidFill>
                <a:latin typeface="Calibri"/>
              </a:rPr>
              <a:t>Стандарт тестирования не зависит от одного человека: подключится ли новый инженер или обновится ИИ — качество проверок остаётся тем же.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ЭТО ЗНАЧИТ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500" b="1">
                <a:solidFill>
                  <a:srgbClr val="14181A"/>
                </a:solidFill>
                <a:latin typeface="Georgia"/>
              </a:rPr>
              <a:t>Такой подход к тестированию закрывает объём
команды из 3–4 тестировщиков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3794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Это оценка, а не рекламный лозунг — вот из чего она складывается: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241280" cy="585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300" b="0">
                <a:solidFill>
                  <a:srgbClr val="14181A"/>
                </a:solidFill>
                <a:latin typeface="Calibri"/>
              </a:rPr>
              <a:t>Более </a:t>
            </a:r>
            <a:r>
              <a:rPr sz="1300" b="1">
                <a:solidFill>
                  <a:srgbClr val="0E6B57"/>
                </a:solidFill>
                <a:latin typeface="Calibri"/>
              </a:rPr>
              <a:t>750 задокументированных сценариев</a:t>
            </a:r>
            <a:r>
              <a:rPr sz="1300" b="0">
                <a:solidFill>
                  <a:srgbClr val="14181A"/>
                </a:solidFill>
                <a:latin typeface="Calibri"/>
              </a:rPr>
              <a:t> только по трём разделам — вручную такой объём нужно перепроверять командой при каждом крупном релизе, чтобы успевать в сроки.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10241280" cy="585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300" b="0">
                <a:solidFill>
                  <a:srgbClr val="14181A"/>
                </a:solidFill>
                <a:latin typeface="Calibri"/>
              </a:rPr>
              <a:t>Автотест прогоняет весь набор за </a:t>
            </a:r>
            <a:r>
              <a:rPr sz="1300" b="1">
                <a:solidFill>
                  <a:srgbClr val="0E6B57"/>
                </a:solidFill>
                <a:latin typeface="Calibri"/>
              </a:rPr>
              <a:t>минуты</a:t>
            </a:r>
            <a:r>
              <a:rPr sz="1300" b="0">
                <a:solidFill>
                  <a:srgbClr val="14181A"/>
                </a:solidFill>
                <a:latin typeface="Calibri"/>
              </a:rPr>
              <a:t> и делает это </a:t>
            </a:r>
            <a:r>
              <a:rPr sz="1300" b="1">
                <a:solidFill>
                  <a:srgbClr val="0E6B57"/>
                </a:solidFill>
                <a:latin typeface="Calibri"/>
              </a:rPr>
              <a:t>бесплатно повторно</a:t>
            </a:r>
            <a:r>
              <a:rPr sz="1300" b="0">
                <a:solidFill>
                  <a:srgbClr val="14181A"/>
                </a:solidFill>
                <a:latin typeface="Calibri"/>
              </a:rPr>
              <a:t> на каждой следующей версии сайта — ручная проверка каждый раз начинается заново.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241280" cy="585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300" b="0">
                <a:solidFill>
                  <a:srgbClr val="14181A"/>
                </a:solidFill>
                <a:latin typeface="Calibri"/>
              </a:rPr>
              <a:t>Находит класс багов, которые ручное тестирование </a:t>
            </a:r>
            <a:r>
              <a:rPr sz="1300" b="1">
                <a:solidFill>
                  <a:srgbClr val="0E6B57"/>
                </a:solidFill>
                <a:latin typeface="Calibri"/>
              </a:rPr>
              <a:t>физически не видит</a:t>
            </a:r>
            <a:r>
              <a:rPr sz="1300" b="0">
                <a:solidFill>
                  <a:srgbClr val="14181A"/>
                </a:solidFill>
                <a:latin typeface="Calibri"/>
              </a:rPr>
              <a:t> — расхождения между экраном и сервером.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241280" cy="585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300" b="0">
                <a:solidFill>
                  <a:srgbClr val="14181A"/>
                </a:solidFill>
                <a:latin typeface="Calibri"/>
              </a:rPr>
              <a:t>Не увольняется, не устаёт, не забывает регресс перед пятничным релизом.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57800"/>
            <a:ext cx="3484778" cy="123444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538581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916168"/>
            <a:ext cx="31555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инженера сегодня ведут весь процесс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3458" y="5257800"/>
            <a:ext cx="3484778" cy="123444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8050" y="538581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~3–4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050" y="5916168"/>
            <a:ext cx="31555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тестировщика понадобилось бы, чтобы вручную держать тот же охват и темп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7" y="5257800"/>
            <a:ext cx="3484778" cy="123444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9" y="538581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0 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1429" y="5916168"/>
            <a:ext cx="31555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стоимость повторного прогона проверки на следующем релизе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1381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500" b="1">
                <a:solidFill>
                  <a:srgbClr val="14181A"/>
                </a:solidFill>
                <a:latin typeface="Georgia"/>
              </a:rPr>
              <a:t>Что нужно, чтобы это стало постоянной страховкой
сайта, а не разовым отчётом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6B57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331720"/>
            <a:ext cx="9692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14181A"/>
                </a:solidFill>
                <a:latin typeface="Calibri"/>
              </a:rPr>
              <a:t>Устранить найденные баги — в приоритете High-severity (например, вход в аккаунт иногда не завершает сессию при выходе) — уже переданы разработчикам в трекер задач.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6B57"/>
                </a:solidFill>
                <a:latin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200400"/>
            <a:ext cx="9692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14181A"/>
                </a:solidFill>
                <a:latin typeface="Calibri"/>
              </a:rPr>
              <a:t>Подключить автозапуск проверок к каждому релизу, чтобы баги ловились до того, как их увидит покупатель, а не после жалоб.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6B57"/>
                </a:solidFill>
                <a:latin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069080"/>
            <a:ext cx="9692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14181A"/>
                </a:solidFill>
                <a:latin typeface="Calibri"/>
              </a:rPr>
              <a:t>Постепенно расширять охват на новые разделы по мере роста сайта.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5B655F"/>
                </a:solidFill>
                <a:latin typeface="Calibri"/>
              </a:rPr>
              <a:t>Итог простыми словами: сайт растёт быстрее, чем его можно проверить руками. Автотесты с ИИ дают возможность расти дальше без пропорционального роста команды — и без потери качества для покупателя.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